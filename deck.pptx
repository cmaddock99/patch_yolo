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822960" y="640080"/>
            <a:ext cx="3657600" cy="256032"/>
          </a:xfrm>
          <a:prstGeom prst="rect">
            <a:avLst/>
          </a:prstGeom>
          <a:noFill/>
        </p:spPr>
        <p:txBody>
          <a:bodyPr wrap="square">
            <a:spAutoFit/>
          </a:bodyPr>
          <a:lstStyle/>
          <a:p>
            <a:pPr algn="l"/>
            <a:r>
              <a:rPr sz="900" b="1" i="0">
                <a:solidFill>
                  <a:srgbClr val="60B8FF"/>
                </a:solidFill>
              </a:rPr>
              <a:t>CAPSTONE RESEARCH</a:t>
            </a:r>
          </a:p>
        </p:txBody>
      </p:sp>
      <p:sp>
        <p:nvSpPr>
          <p:cNvPr id="3" name="TextBox 2"/>
          <p:cNvSpPr txBox="1"/>
          <p:nvPr/>
        </p:nvSpPr>
        <p:spPr>
          <a:xfrm>
            <a:off x="822960" y="1097280"/>
            <a:ext cx="10241280" cy="1463040"/>
          </a:xfrm>
          <a:prstGeom prst="rect">
            <a:avLst/>
          </a:prstGeom>
          <a:noFill/>
        </p:spPr>
        <p:txBody>
          <a:bodyPr wrap="square">
            <a:spAutoFit/>
          </a:bodyPr>
          <a:lstStyle/>
          <a:p>
            <a:pPr algn="l"/>
            <a:r>
              <a:rPr sz="4200" b="1" i="0">
                <a:solidFill>
                  <a:srgbClr val="E8E8F0"/>
                </a:solidFill>
              </a:rPr>
              <a:t>Adversarial Robustness</a:t>
            </a:r>
          </a:p>
          <a:p>
            <a:pPr algn="l"/>
            <a:r>
              <a:rPr sz="4200" b="1" i="0">
                <a:solidFill>
                  <a:srgbClr val="3EFFA0"/>
                </a:solidFill>
              </a:rPr>
              <a:t>Framework</a:t>
            </a:r>
          </a:p>
        </p:txBody>
      </p:sp>
      <p:sp>
        <p:nvSpPr>
          <p:cNvPr id="4" name="TextBox 3"/>
          <p:cNvSpPr txBox="1"/>
          <p:nvPr/>
        </p:nvSpPr>
        <p:spPr>
          <a:xfrm>
            <a:off x="822960" y="2788920"/>
            <a:ext cx="8778240" cy="731520"/>
          </a:xfrm>
          <a:prstGeom prst="rect">
            <a:avLst/>
          </a:prstGeom>
          <a:noFill/>
        </p:spPr>
        <p:txBody>
          <a:bodyPr wrap="square">
            <a:spAutoFit/>
          </a:bodyPr>
          <a:lstStyle/>
          <a:p>
            <a:pPr algn="l"/>
            <a:r>
              <a:rPr sz="1600" b="0" i="0">
                <a:solidFill>
                  <a:srgbClr val="888888"/>
                </a:solidFill>
              </a:rPr>
              <a:t>Two complementary tracks for attack analysis and defense-cycle evaluation across YOLO generations</a:t>
            </a:r>
          </a:p>
        </p:txBody>
      </p:sp>
      <p:sp>
        <p:nvSpPr>
          <p:cNvPr id="5" name="Rectangle 4"/>
          <p:cNvSpPr/>
          <p:nvPr/>
        </p:nvSpPr>
        <p:spPr>
          <a:xfrm>
            <a:off x="822960" y="3657600"/>
            <a:ext cx="1097280" cy="18288"/>
          </a:xfrm>
          <a:prstGeom prst="rect">
            <a:avLst/>
          </a:prstGeom>
          <a:solidFill>
            <a:srgbClr val="3EF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3886200"/>
            <a:ext cx="2743200" cy="365760"/>
          </a:xfrm>
          <a:prstGeom prst="rect">
            <a:avLst/>
          </a:prstGeom>
          <a:noFill/>
        </p:spPr>
        <p:txBody>
          <a:bodyPr wrap="square">
            <a:spAutoFit/>
          </a:bodyPr>
          <a:lstStyle/>
          <a:p>
            <a:pPr algn="l"/>
            <a:r>
              <a:rPr sz="1300" b="0" i="0">
                <a:solidFill>
                  <a:srgbClr val="444444"/>
                </a:solidFill>
              </a:rPr>
              <a:t>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822960" y="411480"/>
            <a:ext cx="3657600" cy="256032"/>
          </a:xfrm>
          <a:prstGeom prst="rect">
            <a:avLst/>
          </a:prstGeom>
          <a:noFill/>
        </p:spPr>
        <p:txBody>
          <a:bodyPr wrap="square">
            <a:spAutoFit/>
          </a:bodyPr>
          <a:lstStyle/>
          <a:p>
            <a:pPr algn="l"/>
            <a:r>
              <a:rPr sz="900" b="1" i="0">
                <a:solidFill>
                  <a:srgbClr val="60B8FF"/>
                </a:solidFill>
              </a:rPr>
              <a:t>FRAMEWORK OVERVIEW</a:t>
            </a:r>
          </a:p>
        </p:txBody>
      </p:sp>
      <p:sp>
        <p:nvSpPr>
          <p:cNvPr id="3" name="TextBox 2"/>
          <p:cNvSpPr txBox="1"/>
          <p:nvPr/>
        </p:nvSpPr>
        <p:spPr>
          <a:xfrm>
            <a:off x="822960" y="777240"/>
            <a:ext cx="10241280" cy="1463040"/>
          </a:xfrm>
          <a:prstGeom prst="rect">
            <a:avLst/>
          </a:prstGeom>
          <a:noFill/>
        </p:spPr>
        <p:txBody>
          <a:bodyPr wrap="square">
            <a:spAutoFit/>
          </a:bodyPr>
          <a:lstStyle/>
          <a:p>
            <a:pPr algn="l"/>
            <a:r>
              <a:rPr sz="3800" b="1" i="0">
                <a:solidFill>
                  <a:srgbClr val="E8E8F0"/>
                </a:solidFill>
              </a:rPr>
              <a:t>Two Complementary</a:t>
            </a:r>
          </a:p>
          <a:p>
            <a:pPr algn="l"/>
            <a:r>
              <a:rPr sz="3800" b="1" i="0">
                <a:solidFill>
                  <a:srgbClr val="60B8FF"/>
                </a:solidFill>
              </a:rPr>
              <a:t>Tracks</a:t>
            </a:r>
          </a:p>
        </p:txBody>
      </p:sp>
      <p:sp>
        <p:nvSpPr>
          <p:cNvPr id="4" name="Rectangle 3"/>
          <p:cNvSpPr/>
          <p:nvPr/>
        </p:nvSpPr>
        <p:spPr>
          <a:xfrm>
            <a:off x="822960" y="1828800"/>
            <a:ext cx="5212080" cy="2834640"/>
          </a:xfrm>
          <a:prstGeom prst="rect">
            <a:avLst/>
          </a:prstGeom>
          <a:solidFill>
            <a:srgbClr val="0D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75104"/>
            <a:ext cx="5212080" cy="201168"/>
          </a:xfrm>
          <a:prstGeom prst="rect">
            <a:avLst/>
          </a:prstGeom>
          <a:noFill/>
        </p:spPr>
        <p:txBody>
          <a:bodyPr wrap="square">
            <a:spAutoFit/>
          </a:bodyPr>
          <a:lstStyle/>
          <a:p>
            <a:pPr algn="l"/>
            <a:r>
              <a:rPr sz="900" b="1" i="0">
                <a:solidFill>
                  <a:srgbClr val="60B8FF"/>
                </a:solidFill>
              </a:rPr>
              <a:t>ATTACK TRACK    Adversarial_Patch</a:t>
            </a:r>
          </a:p>
        </p:txBody>
      </p:sp>
      <p:sp>
        <p:nvSpPr>
          <p:cNvPr id="6" name="Rectangle 5"/>
          <p:cNvSpPr/>
          <p:nvPr/>
        </p:nvSpPr>
        <p:spPr>
          <a:xfrm>
            <a:off x="1005840" y="2267712"/>
            <a:ext cx="4846320" cy="18288"/>
          </a:xfrm>
          <a:prstGeom prst="rect">
            <a:avLst/>
          </a:prstGeom>
          <a:solidFill>
            <a:srgbClr val="1E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95728"/>
            <a:ext cx="4892040" cy="2103120"/>
          </a:xfrm>
          <a:prstGeom prst="rect">
            <a:avLst/>
          </a:prstGeom>
          <a:noFill/>
        </p:spPr>
        <p:txBody>
          <a:bodyPr wrap="square">
            <a:spAutoFit/>
          </a:bodyPr>
          <a:lstStyle/>
          <a:p>
            <a:pPr algn="l"/>
            <a:r>
              <a:rPr sz="1200" b="0" i="0">
                <a:solidFill>
                  <a:srgbClr val="CCCCCC"/>
                </a:solidFill>
              </a:rPr>
              <a:t>- Gradient-based patch training against any Ultralytics YOLO model</a:t>
            </a:r>
          </a:p>
          <a:p>
            <a:pPr algn="l"/>
            <a:r>
              <a:rPr sz="1200" b="0" i="0">
                <a:solidFill>
                  <a:srgbClr val="CCCCCC"/>
                </a:solidFill>
              </a:rPr>
              <a:t>- Multi-model and joint ensemble attack modes</a:t>
            </a:r>
          </a:p>
          <a:p>
            <a:pPr algn="l"/>
            <a:r>
              <a:rPr sz="1200" b="0" i="0">
                <a:solidFill>
                  <a:srgbClr val="CCCCCC"/>
                </a:solidFill>
              </a:rPr>
              <a:t>- Cross-model transfer evaluation across YOLO generations</a:t>
            </a:r>
          </a:p>
          <a:p>
            <a:pPr algn="l"/>
            <a:r>
              <a:rPr sz="1200" b="0" i="0">
                <a:solidFill>
                  <a:srgbClr val="CCCCCC"/>
                </a:solidFill>
              </a:rPr>
              <a:t>- Defense robustness benchmarking (JPEG, blur, crop-resize)</a:t>
            </a:r>
          </a:p>
          <a:p>
            <a:pPr algn="l"/>
            <a:r>
              <a:rPr sz="1200" b="0" i="0">
                <a:solidFill>
                  <a:srgbClr val="CCCCCC"/>
                </a:solidFill>
              </a:rPr>
              <a:t>- Live demo plus 300 DPI physical print export</a:t>
            </a:r>
          </a:p>
        </p:txBody>
      </p:sp>
      <p:sp>
        <p:nvSpPr>
          <p:cNvPr id="8" name="Rectangle 7"/>
          <p:cNvSpPr/>
          <p:nvPr/>
        </p:nvSpPr>
        <p:spPr>
          <a:xfrm>
            <a:off x="6446520" y="1828800"/>
            <a:ext cx="5212080" cy="2834640"/>
          </a:xfrm>
          <a:prstGeom prst="rect">
            <a:avLst/>
          </a:prstGeom>
          <a:solidFill>
            <a:srgbClr val="0D1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1975104"/>
            <a:ext cx="5212080" cy="201168"/>
          </a:xfrm>
          <a:prstGeom prst="rect">
            <a:avLst/>
          </a:prstGeom>
          <a:noFill/>
        </p:spPr>
        <p:txBody>
          <a:bodyPr wrap="square">
            <a:spAutoFit/>
          </a:bodyPr>
          <a:lstStyle/>
          <a:p>
            <a:pPr algn="l"/>
            <a:r>
              <a:rPr sz="900" b="1" i="0">
                <a:solidFill>
                  <a:srgbClr val="60B8FF"/>
                </a:solidFill>
              </a:rPr>
              <a:t>DEFENSE TRACK    YOLO-Bad-Triangle</a:t>
            </a:r>
          </a:p>
        </p:txBody>
      </p:sp>
      <p:sp>
        <p:nvSpPr>
          <p:cNvPr id="10" name="Rectangle 9"/>
          <p:cNvSpPr/>
          <p:nvPr/>
        </p:nvSpPr>
        <p:spPr>
          <a:xfrm>
            <a:off x="6629400" y="2267712"/>
            <a:ext cx="4846320" cy="18288"/>
          </a:xfrm>
          <a:prstGeom prst="rect">
            <a:avLst/>
          </a:prstGeom>
          <a:solidFill>
            <a:srgbClr val="1E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395728"/>
            <a:ext cx="4892040" cy="2103120"/>
          </a:xfrm>
          <a:prstGeom prst="rect">
            <a:avLst/>
          </a:prstGeom>
          <a:noFill/>
        </p:spPr>
        <p:txBody>
          <a:bodyPr wrap="square">
            <a:spAutoFit/>
          </a:bodyPr>
          <a:lstStyle/>
          <a:p>
            <a:pPr algn="l"/>
            <a:r>
              <a:rPr sz="1200" b="0" i="0">
                <a:solidFill>
                  <a:srgbClr val="CCCCCC"/>
                </a:solidFill>
              </a:rPr>
              <a:t>- Plugin-based attack and defense registry</a:t>
            </a:r>
          </a:p>
          <a:p>
            <a:pPr algn="l"/>
            <a:r>
              <a:rPr sz="1200" b="0" i="0">
                <a:solidFill>
                  <a:srgbClr val="CCCCCC"/>
                </a:solidFill>
              </a:rPr>
              <a:t>- 22 recorded automated cycles in the defense repo</a:t>
            </a:r>
          </a:p>
          <a:p>
            <a:pPr algn="l"/>
            <a:r>
              <a:rPr sz="1200" b="0" i="0">
                <a:solidFill>
                  <a:srgbClr val="CCCCCC"/>
                </a:solidFill>
              </a:rPr>
              <a:t>- DPC-UNet checkpoint finetuning with clean A/B deployment gate</a:t>
            </a:r>
          </a:p>
          <a:p>
            <a:pPr algn="l"/>
            <a:r>
              <a:rPr sz="1200" b="0" i="0">
                <a:solidFill>
                  <a:srgbClr val="CCCCCC"/>
                </a:solidFill>
              </a:rPr>
              <a:t>- Schema-enforced artifact contracts and provenance tracking</a:t>
            </a:r>
          </a:p>
          <a:p>
            <a:pPr algn="l"/>
            <a:r>
              <a:rPr sz="1200" b="0" i="0">
                <a:solidFill>
                  <a:srgbClr val="CCCCCC"/>
                </a:solidFill>
              </a:rPr>
              <a:t>- Automated reporting pipeline</a:t>
            </a:r>
          </a:p>
        </p:txBody>
      </p:sp>
      <p:sp>
        <p:nvSpPr>
          <p:cNvPr id="12" name="TextBox 11"/>
          <p:cNvSpPr txBox="1"/>
          <p:nvPr/>
        </p:nvSpPr>
        <p:spPr>
          <a:xfrm>
            <a:off x="822960" y="4983480"/>
            <a:ext cx="10424160" cy="731520"/>
          </a:xfrm>
          <a:prstGeom prst="rect">
            <a:avLst/>
          </a:prstGeom>
          <a:noFill/>
        </p:spPr>
        <p:txBody>
          <a:bodyPr wrap="square">
            <a:spAutoFit/>
          </a:bodyPr>
          <a:lstStyle/>
          <a:p>
            <a:pPr algn="l"/>
            <a:r>
              <a:rPr sz="1200" b="0" i="0">
                <a:solidFill>
                  <a:srgbClr val="888888"/>
                </a:solidFill>
              </a:rPr>
              <a:t>These are complementary sibling repos, not one shared-image runtime loop: the attack track uses a 48-image common manifest, while the defense track runs automated cycles on a COCO subset and writes its own reports.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822960" y="411480"/>
            <a:ext cx="3657600" cy="256032"/>
          </a:xfrm>
          <a:prstGeom prst="rect">
            <a:avLst/>
          </a:prstGeom>
          <a:noFill/>
        </p:spPr>
        <p:txBody>
          <a:bodyPr wrap="square">
            <a:spAutoFit/>
          </a:bodyPr>
          <a:lstStyle/>
          <a:p>
            <a:pPr algn="l"/>
            <a:r>
              <a:rPr sz="900" b="1" i="0">
                <a:solidFill>
                  <a:srgbClr val="60B8FF"/>
                </a:solidFill>
              </a:rPr>
              <a:t>ATTACK TRACK - FINDINGS</a:t>
            </a:r>
          </a:p>
        </p:txBody>
      </p:sp>
      <p:sp>
        <p:nvSpPr>
          <p:cNvPr id="3" name="TextBox 2"/>
          <p:cNvSpPr txBox="1"/>
          <p:nvPr/>
        </p:nvSpPr>
        <p:spPr>
          <a:xfrm>
            <a:off x="822960" y="777240"/>
            <a:ext cx="10241280" cy="1463040"/>
          </a:xfrm>
          <a:prstGeom prst="rect">
            <a:avLst/>
          </a:prstGeom>
          <a:noFill/>
        </p:spPr>
        <p:txBody>
          <a:bodyPr wrap="square">
            <a:spAutoFit/>
          </a:bodyPr>
          <a:lstStyle/>
          <a:p>
            <a:pPr algn="l"/>
            <a:r>
              <a:rPr sz="3800" b="1" i="0">
                <a:solidFill>
                  <a:srgbClr val="E8E8F0"/>
                </a:solidFill>
              </a:rPr>
              <a:t>Detection</a:t>
            </a:r>
          </a:p>
          <a:p>
            <a:pPr algn="l"/>
            <a:r>
              <a:rPr sz="3800" b="1" i="0">
                <a:solidFill>
                  <a:srgbClr val="3EFFA0"/>
                </a:solidFill>
              </a:rPr>
              <a:t>Suppression</a:t>
            </a:r>
          </a:p>
        </p:txBody>
      </p:sp>
      <p:sp>
        <p:nvSpPr>
          <p:cNvPr id="4" name="Rectangle 3"/>
          <p:cNvSpPr/>
          <p:nvPr/>
        </p:nvSpPr>
        <p:spPr>
          <a:xfrm>
            <a:off x="822960" y="2057400"/>
            <a:ext cx="3291840" cy="2926080"/>
          </a:xfrm>
          <a:prstGeom prst="rect">
            <a:avLst/>
          </a:prstGeom>
          <a:solidFill>
            <a:srgbClr val="0D1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13432"/>
            <a:ext cx="3291840" cy="822960"/>
          </a:xfrm>
          <a:prstGeom prst="rect">
            <a:avLst/>
          </a:prstGeom>
          <a:noFill/>
        </p:spPr>
        <p:txBody>
          <a:bodyPr wrap="square">
            <a:spAutoFit/>
          </a:bodyPr>
          <a:lstStyle/>
          <a:p>
            <a:pPr algn="ctr"/>
            <a:r>
              <a:rPr sz="5400" b="1" i="0">
                <a:solidFill>
                  <a:srgbClr val="3EFFA0"/>
                </a:solidFill>
              </a:rPr>
              <a:t>90%</a:t>
            </a:r>
          </a:p>
        </p:txBody>
      </p:sp>
      <p:sp>
        <p:nvSpPr>
          <p:cNvPr id="6" name="TextBox 5"/>
          <p:cNvSpPr txBox="1"/>
          <p:nvPr/>
        </p:nvSpPr>
        <p:spPr>
          <a:xfrm>
            <a:off x="822960" y="3172968"/>
            <a:ext cx="3291840" cy="320040"/>
          </a:xfrm>
          <a:prstGeom prst="rect">
            <a:avLst/>
          </a:prstGeom>
          <a:noFill/>
        </p:spPr>
        <p:txBody>
          <a:bodyPr wrap="square">
            <a:spAutoFit/>
          </a:bodyPr>
          <a:lstStyle/>
          <a:p>
            <a:pPr algn="ctr"/>
            <a:r>
              <a:rPr sz="1600" b="1" i="0">
                <a:solidFill>
                  <a:srgbClr val="E8E8F0"/>
                </a:solidFill>
              </a:rPr>
              <a:t>YOLOv8n</a:t>
            </a:r>
          </a:p>
        </p:txBody>
      </p:sp>
      <p:sp>
        <p:nvSpPr>
          <p:cNvPr id="7" name="TextBox 6"/>
          <p:cNvSpPr txBox="1"/>
          <p:nvPr/>
        </p:nvSpPr>
        <p:spPr>
          <a:xfrm>
            <a:off x="822960" y="3538728"/>
            <a:ext cx="3291840" cy="256032"/>
          </a:xfrm>
          <a:prstGeom prst="rect">
            <a:avLst/>
          </a:prstGeom>
          <a:noFill/>
        </p:spPr>
        <p:txBody>
          <a:bodyPr wrap="square">
            <a:spAutoFit/>
          </a:bodyPr>
          <a:lstStyle/>
          <a:p>
            <a:pPr algn="ctr"/>
            <a:r>
              <a:rPr sz="1300" b="0" i="0">
                <a:solidFill>
                  <a:srgbClr val="888888"/>
                </a:solidFill>
              </a:rPr>
              <a:t>20 -&gt; 2 detections</a:t>
            </a:r>
          </a:p>
        </p:txBody>
      </p:sp>
      <p:sp>
        <p:nvSpPr>
          <p:cNvPr id="8" name="TextBox 7"/>
          <p:cNvSpPr txBox="1"/>
          <p:nvPr/>
        </p:nvSpPr>
        <p:spPr>
          <a:xfrm>
            <a:off x="822960" y="3904488"/>
            <a:ext cx="3291840" cy="228600"/>
          </a:xfrm>
          <a:prstGeom prst="rect">
            <a:avLst/>
          </a:prstGeom>
          <a:noFill/>
        </p:spPr>
        <p:txBody>
          <a:bodyPr wrap="square">
            <a:spAutoFit/>
          </a:bodyPr>
          <a:lstStyle/>
          <a:p>
            <a:pPr algn="ctr"/>
            <a:r>
              <a:rPr sz="1000" b="0" i="0">
                <a:solidFill>
                  <a:srgbClr val="888888"/>
                </a:solidFill>
              </a:rPr>
              <a:t>1000 epochs - loss 0.543</a:t>
            </a:r>
          </a:p>
        </p:txBody>
      </p:sp>
      <p:sp>
        <p:nvSpPr>
          <p:cNvPr id="9" name="Rectangle 8"/>
          <p:cNvSpPr/>
          <p:nvPr/>
        </p:nvSpPr>
        <p:spPr>
          <a:xfrm>
            <a:off x="4480560" y="2057400"/>
            <a:ext cx="3291840" cy="2926080"/>
          </a:xfrm>
          <a:prstGeom prst="rect">
            <a:avLst/>
          </a:prstGeom>
          <a:solidFill>
            <a:srgbClr val="1A1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2313432"/>
            <a:ext cx="3291840" cy="822960"/>
          </a:xfrm>
          <a:prstGeom prst="rect">
            <a:avLst/>
          </a:prstGeom>
          <a:noFill/>
        </p:spPr>
        <p:txBody>
          <a:bodyPr wrap="square">
            <a:spAutoFit/>
          </a:bodyPr>
          <a:lstStyle/>
          <a:p>
            <a:pPr algn="ctr"/>
            <a:r>
              <a:rPr sz="5400" b="1" i="0">
                <a:solidFill>
                  <a:srgbClr val="FFE066"/>
                </a:solidFill>
              </a:rPr>
              <a:t>72.7%</a:t>
            </a:r>
          </a:p>
        </p:txBody>
      </p:sp>
      <p:sp>
        <p:nvSpPr>
          <p:cNvPr id="11" name="TextBox 10"/>
          <p:cNvSpPr txBox="1"/>
          <p:nvPr/>
        </p:nvSpPr>
        <p:spPr>
          <a:xfrm>
            <a:off x="4480560" y="3172968"/>
            <a:ext cx="3291840" cy="320040"/>
          </a:xfrm>
          <a:prstGeom prst="rect">
            <a:avLst/>
          </a:prstGeom>
          <a:noFill/>
        </p:spPr>
        <p:txBody>
          <a:bodyPr wrap="square">
            <a:spAutoFit/>
          </a:bodyPr>
          <a:lstStyle/>
          <a:p>
            <a:pPr algn="ctr"/>
            <a:r>
              <a:rPr sz="1600" b="1" i="0">
                <a:solidFill>
                  <a:srgbClr val="E8E8F0"/>
                </a:solidFill>
              </a:rPr>
              <a:t>YOLO11n</a:t>
            </a:r>
          </a:p>
        </p:txBody>
      </p:sp>
      <p:sp>
        <p:nvSpPr>
          <p:cNvPr id="12" name="TextBox 11"/>
          <p:cNvSpPr txBox="1"/>
          <p:nvPr/>
        </p:nvSpPr>
        <p:spPr>
          <a:xfrm>
            <a:off x="4480560" y="3538728"/>
            <a:ext cx="3291840" cy="256032"/>
          </a:xfrm>
          <a:prstGeom prst="rect">
            <a:avLst/>
          </a:prstGeom>
          <a:noFill/>
        </p:spPr>
        <p:txBody>
          <a:bodyPr wrap="square">
            <a:spAutoFit/>
          </a:bodyPr>
          <a:lstStyle/>
          <a:p>
            <a:pPr algn="ctr"/>
            <a:r>
              <a:rPr sz="1300" b="0" i="0">
                <a:solidFill>
                  <a:srgbClr val="888888"/>
                </a:solidFill>
              </a:rPr>
              <a:t>33 -&gt; 9 detections</a:t>
            </a:r>
          </a:p>
        </p:txBody>
      </p:sp>
      <p:sp>
        <p:nvSpPr>
          <p:cNvPr id="13" name="TextBox 12"/>
          <p:cNvSpPr txBox="1"/>
          <p:nvPr/>
        </p:nvSpPr>
        <p:spPr>
          <a:xfrm>
            <a:off x="4480560" y="3904488"/>
            <a:ext cx="3291840" cy="228600"/>
          </a:xfrm>
          <a:prstGeom prst="rect">
            <a:avLst/>
          </a:prstGeom>
          <a:noFill/>
        </p:spPr>
        <p:txBody>
          <a:bodyPr wrap="square">
            <a:spAutoFit/>
          </a:bodyPr>
          <a:lstStyle/>
          <a:p>
            <a:pPr algn="ctr"/>
            <a:r>
              <a:rPr sz="1000" b="0" i="0">
                <a:solidFill>
                  <a:srgbClr val="888888"/>
                </a:solidFill>
              </a:rPr>
              <a:t>1000 epochs - loss 0.597</a:t>
            </a:r>
          </a:p>
        </p:txBody>
      </p:sp>
      <p:sp>
        <p:nvSpPr>
          <p:cNvPr id="14" name="Rectangle 13"/>
          <p:cNvSpPr/>
          <p:nvPr/>
        </p:nvSpPr>
        <p:spPr>
          <a:xfrm>
            <a:off x="8138160" y="2057400"/>
            <a:ext cx="3291840" cy="2926080"/>
          </a:xfrm>
          <a:prstGeom prst="rect">
            <a:avLst/>
          </a:prstGeom>
          <a:solidFill>
            <a:srgbClr val="1A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2313432"/>
            <a:ext cx="3291840" cy="822960"/>
          </a:xfrm>
          <a:prstGeom prst="rect">
            <a:avLst/>
          </a:prstGeom>
          <a:noFill/>
        </p:spPr>
        <p:txBody>
          <a:bodyPr wrap="square">
            <a:spAutoFit/>
          </a:bodyPr>
          <a:lstStyle/>
          <a:p>
            <a:pPr algn="ctr"/>
            <a:r>
              <a:rPr sz="5400" b="1" i="0">
                <a:solidFill>
                  <a:srgbClr val="FF6060"/>
                </a:solidFill>
              </a:rPr>
              <a:t>16.3%</a:t>
            </a:r>
          </a:p>
        </p:txBody>
      </p:sp>
      <p:sp>
        <p:nvSpPr>
          <p:cNvPr id="16" name="TextBox 15"/>
          <p:cNvSpPr txBox="1"/>
          <p:nvPr/>
        </p:nvSpPr>
        <p:spPr>
          <a:xfrm>
            <a:off x="8138160" y="3172968"/>
            <a:ext cx="3291840" cy="320040"/>
          </a:xfrm>
          <a:prstGeom prst="rect">
            <a:avLst/>
          </a:prstGeom>
          <a:noFill/>
        </p:spPr>
        <p:txBody>
          <a:bodyPr wrap="square">
            <a:spAutoFit/>
          </a:bodyPr>
          <a:lstStyle/>
          <a:p>
            <a:pPr algn="ctr"/>
            <a:r>
              <a:rPr sz="1600" b="1" i="0">
                <a:solidFill>
                  <a:srgbClr val="E8E8F0"/>
                </a:solidFill>
              </a:rPr>
              <a:t>YOLO26n</a:t>
            </a:r>
          </a:p>
        </p:txBody>
      </p:sp>
      <p:sp>
        <p:nvSpPr>
          <p:cNvPr id="17" name="TextBox 16"/>
          <p:cNvSpPr txBox="1"/>
          <p:nvPr/>
        </p:nvSpPr>
        <p:spPr>
          <a:xfrm>
            <a:off x="8138160" y="3538728"/>
            <a:ext cx="3291840" cy="256032"/>
          </a:xfrm>
          <a:prstGeom prst="rect">
            <a:avLst/>
          </a:prstGeom>
          <a:noFill/>
        </p:spPr>
        <p:txBody>
          <a:bodyPr wrap="square">
            <a:spAutoFit/>
          </a:bodyPr>
          <a:lstStyle/>
          <a:p>
            <a:pPr algn="ctr"/>
            <a:r>
              <a:rPr sz="1300" b="0" i="0">
                <a:solidFill>
                  <a:srgbClr val="888888"/>
                </a:solidFill>
              </a:rPr>
              <a:t>43 -&gt; 36 detections</a:t>
            </a:r>
          </a:p>
        </p:txBody>
      </p:sp>
      <p:sp>
        <p:nvSpPr>
          <p:cNvPr id="18" name="TextBox 17"/>
          <p:cNvSpPr txBox="1"/>
          <p:nvPr/>
        </p:nvSpPr>
        <p:spPr>
          <a:xfrm>
            <a:off x="8138160" y="3904488"/>
            <a:ext cx="3291840" cy="228600"/>
          </a:xfrm>
          <a:prstGeom prst="rect">
            <a:avLst/>
          </a:prstGeom>
          <a:noFill/>
        </p:spPr>
        <p:txBody>
          <a:bodyPr wrap="square">
            <a:spAutoFit/>
          </a:bodyPr>
          <a:lstStyle/>
          <a:p>
            <a:pPr algn="ctr"/>
            <a:r>
              <a:rPr sz="1000" b="0" i="0">
                <a:solidFill>
                  <a:srgbClr val="888888"/>
                </a:solidFill>
              </a:rPr>
              <a:t>1000 epochs - loss 0.108</a:t>
            </a:r>
          </a:p>
        </p:txBody>
      </p:sp>
      <p:sp>
        <p:nvSpPr>
          <p:cNvPr id="19" name="TextBox 18"/>
          <p:cNvSpPr txBox="1"/>
          <p:nvPr/>
        </p:nvSpPr>
        <p:spPr>
          <a:xfrm>
            <a:off x="822960" y="5230368"/>
            <a:ext cx="10424160" cy="274320"/>
          </a:xfrm>
          <a:prstGeom prst="rect">
            <a:avLst/>
          </a:prstGeom>
          <a:noFill/>
        </p:spPr>
        <p:txBody>
          <a:bodyPr wrap="square">
            <a:spAutoFit/>
          </a:bodyPr>
          <a:lstStyle/>
          <a:p>
            <a:pPr algn="l"/>
            <a:r>
              <a:rPr sz="1300" b="0" i="0">
                <a:solidFill>
                  <a:srgbClr val="CCCCCC"/>
                </a:solidFill>
              </a:rPr>
              <a:t>Patch size: 100 x 100 px  |  Image size: 640 x 640  |  2.4% of total pixels</a:t>
            </a:r>
          </a:p>
        </p:txBody>
      </p:sp>
      <p:sp>
        <p:nvSpPr>
          <p:cNvPr id="20" name="TextBox 19"/>
          <p:cNvSpPr txBox="1"/>
          <p:nvPr/>
        </p:nvSpPr>
        <p:spPr>
          <a:xfrm>
            <a:off x="822960" y="5504688"/>
            <a:ext cx="10424160" cy="274320"/>
          </a:xfrm>
          <a:prstGeom prst="rect">
            <a:avLst/>
          </a:prstGeom>
          <a:noFill/>
        </p:spPr>
        <p:txBody>
          <a:bodyPr wrap="square">
            <a:spAutoFit/>
          </a:bodyPr>
          <a:lstStyle/>
          <a:p>
            <a:pPr algn="l"/>
            <a:r>
              <a:rPr sz="1000" b="0" i="0">
                <a:solidFill>
                  <a:srgbClr val="444444"/>
                </a:solidFill>
              </a:rPr>
              <a:t>Within v26n runs, better objective convergence did not yield better suppression - see The v26n Paradox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822960" y="411480"/>
            <a:ext cx="3657600" cy="256032"/>
          </a:xfrm>
          <a:prstGeom prst="rect">
            <a:avLst/>
          </a:prstGeom>
          <a:noFill/>
        </p:spPr>
        <p:txBody>
          <a:bodyPr wrap="square">
            <a:spAutoFit/>
          </a:bodyPr>
          <a:lstStyle/>
          <a:p>
            <a:pPr algn="l"/>
            <a:r>
              <a:rPr sz="900" b="1" i="0">
                <a:solidFill>
                  <a:srgbClr val="60B8FF"/>
                </a:solidFill>
              </a:rPr>
              <a:t>ATTACK TRACK - TRANSFER ANALYSIS</a:t>
            </a:r>
          </a:p>
        </p:txBody>
      </p:sp>
      <p:sp>
        <p:nvSpPr>
          <p:cNvPr id="3" name="TextBox 2"/>
          <p:cNvSpPr txBox="1"/>
          <p:nvPr/>
        </p:nvSpPr>
        <p:spPr>
          <a:xfrm>
            <a:off x="822960" y="777240"/>
            <a:ext cx="10241280" cy="1463040"/>
          </a:xfrm>
          <a:prstGeom prst="rect">
            <a:avLst/>
          </a:prstGeom>
          <a:noFill/>
        </p:spPr>
        <p:txBody>
          <a:bodyPr wrap="square">
            <a:spAutoFit/>
          </a:bodyPr>
          <a:lstStyle/>
          <a:p>
            <a:pPr algn="l"/>
            <a:r>
              <a:rPr sz="3600" b="1" i="0">
                <a:solidFill>
                  <a:srgbClr val="E8E8F0"/>
                </a:solidFill>
              </a:rPr>
              <a:t>The</a:t>
            </a:r>
          </a:p>
          <a:p>
            <a:pPr algn="l"/>
            <a:r>
              <a:rPr sz="3600" b="1" i="0">
                <a:solidFill>
                  <a:srgbClr val="60B8FF"/>
                </a:solidFill>
              </a:rPr>
              <a:t>Bad Triangle</a:t>
            </a:r>
          </a:p>
        </p:txBody>
      </p:sp>
      <p:sp>
        <p:nvSpPr>
          <p:cNvPr id="4" name="TextBox 3"/>
          <p:cNvSpPr txBox="1"/>
          <p:nvPr/>
        </p:nvSpPr>
        <p:spPr>
          <a:xfrm>
            <a:off x="822960" y="1828800"/>
            <a:ext cx="6309360" cy="274320"/>
          </a:xfrm>
          <a:prstGeom prst="rect">
            <a:avLst/>
          </a:prstGeom>
          <a:noFill/>
        </p:spPr>
        <p:txBody>
          <a:bodyPr wrap="square">
            <a:spAutoFit/>
          </a:bodyPr>
          <a:lstStyle/>
          <a:p>
            <a:pPr algn="l"/>
            <a:r>
              <a:rPr sz="900" b="1" i="0">
                <a:solidFill>
                  <a:srgbClr val="60B8FF"/>
                </a:solidFill>
              </a:rPr>
              <a:t>Cross-model suppression matrix  |  row = patch trained on  |  column = model tested against</a:t>
            </a:r>
          </a:p>
        </p:txBody>
      </p:sp>
      <p:sp>
        <p:nvSpPr>
          <p:cNvPr id="5" name="TextBox 4"/>
          <p:cNvSpPr txBox="1"/>
          <p:nvPr/>
        </p:nvSpPr>
        <p:spPr>
          <a:xfrm>
            <a:off x="822960" y="2212848"/>
            <a:ext cx="1463040" cy="219456"/>
          </a:xfrm>
          <a:prstGeom prst="rect">
            <a:avLst/>
          </a:prstGeom>
          <a:noFill/>
        </p:spPr>
        <p:txBody>
          <a:bodyPr wrap="square">
            <a:spAutoFit/>
          </a:bodyPr>
          <a:lstStyle/>
          <a:p>
            <a:pPr algn="l"/>
            <a:r>
              <a:rPr sz="900" b="0" i="0">
                <a:solidFill>
                  <a:srgbClr val="888888"/>
                </a:solidFill>
              </a:rPr>
              <a:t>Patch source</a:t>
            </a:r>
          </a:p>
        </p:txBody>
      </p:sp>
      <p:sp>
        <p:nvSpPr>
          <p:cNvPr id="6" name="TextBox 5"/>
          <p:cNvSpPr txBox="1"/>
          <p:nvPr/>
        </p:nvSpPr>
        <p:spPr>
          <a:xfrm>
            <a:off x="2286000" y="2212848"/>
            <a:ext cx="1463040" cy="219456"/>
          </a:xfrm>
          <a:prstGeom prst="rect">
            <a:avLst/>
          </a:prstGeom>
          <a:noFill/>
        </p:spPr>
        <p:txBody>
          <a:bodyPr wrap="square">
            <a:spAutoFit/>
          </a:bodyPr>
          <a:lstStyle/>
          <a:p>
            <a:pPr algn="l"/>
            <a:r>
              <a:rPr sz="900" b="0" i="0">
                <a:solidFill>
                  <a:srgbClr val="888888"/>
                </a:solidFill>
              </a:rPr>
              <a:t>-&gt; v8n</a:t>
            </a:r>
          </a:p>
        </p:txBody>
      </p:sp>
      <p:sp>
        <p:nvSpPr>
          <p:cNvPr id="7" name="TextBox 6"/>
          <p:cNvSpPr txBox="1"/>
          <p:nvPr/>
        </p:nvSpPr>
        <p:spPr>
          <a:xfrm>
            <a:off x="3749040" y="2212848"/>
            <a:ext cx="1463040" cy="219456"/>
          </a:xfrm>
          <a:prstGeom prst="rect">
            <a:avLst/>
          </a:prstGeom>
          <a:noFill/>
        </p:spPr>
        <p:txBody>
          <a:bodyPr wrap="square">
            <a:spAutoFit/>
          </a:bodyPr>
          <a:lstStyle/>
          <a:p>
            <a:pPr algn="l"/>
            <a:r>
              <a:rPr sz="900" b="0" i="0">
                <a:solidFill>
                  <a:srgbClr val="888888"/>
                </a:solidFill>
              </a:rPr>
              <a:t>-&gt; v11n</a:t>
            </a:r>
          </a:p>
        </p:txBody>
      </p:sp>
      <p:sp>
        <p:nvSpPr>
          <p:cNvPr id="8" name="TextBox 7"/>
          <p:cNvSpPr txBox="1"/>
          <p:nvPr/>
        </p:nvSpPr>
        <p:spPr>
          <a:xfrm>
            <a:off x="5212080" y="2212848"/>
            <a:ext cx="1463040" cy="219456"/>
          </a:xfrm>
          <a:prstGeom prst="rect">
            <a:avLst/>
          </a:prstGeom>
          <a:noFill/>
        </p:spPr>
        <p:txBody>
          <a:bodyPr wrap="square">
            <a:spAutoFit/>
          </a:bodyPr>
          <a:lstStyle/>
          <a:p>
            <a:pPr algn="l"/>
            <a:r>
              <a:rPr sz="900" b="0" i="0">
                <a:solidFill>
                  <a:srgbClr val="888888"/>
                </a:solidFill>
              </a:rPr>
              <a:t>-&gt; v26n</a:t>
            </a:r>
          </a:p>
        </p:txBody>
      </p:sp>
      <p:sp>
        <p:nvSpPr>
          <p:cNvPr id="9" name="Rectangle 8"/>
          <p:cNvSpPr/>
          <p:nvPr/>
        </p:nvSpPr>
        <p:spPr>
          <a:xfrm>
            <a:off x="749808" y="2487168"/>
            <a:ext cx="6080760" cy="384048"/>
          </a:xfrm>
          <a:prstGeom prst="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523744"/>
            <a:ext cx="1463040" cy="219456"/>
          </a:xfrm>
          <a:prstGeom prst="rect">
            <a:avLst/>
          </a:prstGeom>
          <a:noFill/>
        </p:spPr>
        <p:txBody>
          <a:bodyPr wrap="square">
            <a:spAutoFit/>
          </a:bodyPr>
          <a:lstStyle/>
          <a:p>
            <a:pPr algn="l"/>
            <a:r>
              <a:rPr sz="1200" b="0" i="0">
                <a:solidFill>
                  <a:srgbClr val="888888"/>
                </a:solidFill>
              </a:rPr>
              <a:t>v8n</a:t>
            </a:r>
          </a:p>
        </p:txBody>
      </p:sp>
      <p:sp>
        <p:nvSpPr>
          <p:cNvPr id="11" name="TextBox 10"/>
          <p:cNvSpPr txBox="1"/>
          <p:nvPr/>
        </p:nvSpPr>
        <p:spPr>
          <a:xfrm>
            <a:off x="2286000" y="2523744"/>
            <a:ext cx="1463040" cy="219456"/>
          </a:xfrm>
          <a:prstGeom prst="rect">
            <a:avLst/>
          </a:prstGeom>
          <a:noFill/>
        </p:spPr>
        <p:txBody>
          <a:bodyPr wrap="square">
            <a:spAutoFit/>
          </a:bodyPr>
          <a:lstStyle/>
          <a:p>
            <a:pPr algn="l"/>
            <a:r>
              <a:rPr sz="1200" b="1" i="0">
                <a:solidFill>
                  <a:srgbClr val="3EFFA0"/>
                </a:solidFill>
              </a:rPr>
              <a:t>90% *</a:t>
            </a:r>
          </a:p>
        </p:txBody>
      </p:sp>
      <p:sp>
        <p:nvSpPr>
          <p:cNvPr id="12" name="TextBox 11"/>
          <p:cNvSpPr txBox="1"/>
          <p:nvPr/>
        </p:nvSpPr>
        <p:spPr>
          <a:xfrm>
            <a:off x="3749040" y="2523744"/>
            <a:ext cx="1463040" cy="219456"/>
          </a:xfrm>
          <a:prstGeom prst="rect">
            <a:avLst/>
          </a:prstGeom>
          <a:noFill/>
        </p:spPr>
        <p:txBody>
          <a:bodyPr wrap="square">
            <a:spAutoFit/>
          </a:bodyPr>
          <a:lstStyle/>
          <a:p>
            <a:pPr algn="l"/>
            <a:r>
              <a:rPr sz="1200" b="1" i="0">
                <a:solidFill>
                  <a:srgbClr val="FFE066"/>
                </a:solidFill>
              </a:rPr>
              <a:t>33.3%</a:t>
            </a:r>
          </a:p>
        </p:txBody>
      </p:sp>
      <p:sp>
        <p:nvSpPr>
          <p:cNvPr id="13" name="TextBox 12"/>
          <p:cNvSpPr txBox="1"/>
          <p:nvPr/>
        </p:nvSpPr>
        <p:spPr>
          <a:xfrm>
            <a:off x="5212080" y="2523744"/>
            <a:ext cx="1463040" cy="219456"/>
          </a:xfrm>
          <a:prstGeom prst="rect">
            <a:avLst/>
          </a:prstGeom>
          <a:noFill/>
        </p:spPr>
        <p:txBody>
          <a:bodyPr wrap="square">
            <a:spAutoFit/>
          </a:bodyPr>
          <a:lstStyle/>
          <a:p>
            <a:pPr algn="l"/>
            <a:r>
              <a:rPr sz="1200" b="1" i="0">
                <a:solidFill>
                  <a:srgbClr val="FF6060"/>
                </a:solidFill>
              </a:rPr>
              <a:t>14.0%</a:t>
            </a:r>
          </a:p>
        </p:txBody>
      </p:sp>
      <p:sp>
        <p:nvSpPr>
          <p:cNvPr id="14" name="Rectangle 13"/>
          <p:cNvSpPr/>
          <p:nvPr/>
        </p:nvSpPr>
        <p:spPr>
          <a:xfrm>
            <a:off x="749808" y="2962656"/>
            <a:ext cx="6080760" cy="384048"/>
          </a:xfrm>
          <a:prstGeom prst="rect">
            <a:avLst/>
          </a:prstGeom>
          <a:solidFill>
            <a:srgbClr val="0A0A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999232"/>
            <a:ext cx="1463040" cy="219456"/>
          </a:xfrm>
          <a:prstGeom prst="rect">
            <a:avLst/>
          </a:prstGeom>
          <a:noFill/>
        </p:spPr>
        <p:txBody>
          <a:bodyPr wrap="square">
            <a:spAutoFit/>
          </a:bodyPr>
          <a:lstStyle/>
          <a:p>
            <a:pPr algn="l"/>
            <a:r>
              <a:rPr sz="1200" b="0" i="0">
                <a:solidFill>
                  <a:srgbClr val="888888"/>
                </a:solidFill>
              </a:rPr>
              <a:t>v11n</a:t>
            </a:r>
          </a:p>
        </p:txBody>
      </p:sp>
      <p:sp>
        <p:nvSpPr>
          <p:cNvPr id="16" name="TextBox 15"/>
          <p:cNvSpPr txBox="1"/>
          <p:nvPr/>
        </p:nvSpPr>
        <p:spPr>
          <a:xfrm>
            <a:off x="2286000" y="2999232"/>
            <a:ext cx="1463040" cy="219456"/>
          </a:xfrm>
          <a:prstGeom prst="rect">
            <a:avLst/>
          </a:prstGeom>
          <a:noFill/>
        </p:spPr>
        <p:txBody>
          <a:bodyPr wrap="square">
            <a:spAutoFit/>
          </a:bodyPr>
          <a:lstStyle/>
          <a:p>
            <a:pPr algn="l"/>
            <a:r>
              <a:rPr sz="1200" b="1" i="0">
                <a:solidFill>
                  <a:srgbClr val="FFE066"/>
                </a:solidFill>
              </a:rPr>
              <a:t>50.0%</a:t>
            </a:r>
          </a:p>
        </p:txBody>
      </p:sp>
      <p:sp>
        <p:nvSpPr>
          <p:cNvPr id="17" name="TextBox 16"/>
          <p:cNvSpPr txBox="1"/>
          <p:nvPr/>
        </p:nvSpPr>
        <p:spPr>
          <a:xfrm>
            <a:off x="3749040" y="2999232"/>
            <a:ext cx="1463040" cy="219456"/>
          </a:xfrm>
          <a:prstGeom prst="rect">
            <a:avLst/>
          </a:prstGeom>
          <a:noFill/>
        </p:spPr>
        <p:txBody>
          <a:bodyPr wrap="square">
            <a:spAutoFit/>
          </a:bodyPr>
          <a:lstStyle/>
          <a:p>
            <a:pPr algn="l"/>
            <a:r>
              <a:rPr sz="1200" b="1" i="0">
                <a:solidFill>
                  <a:srgbClr val="3EFFA0"/>
                </a:solidFill>
              </a:rPr>
              <a:t>72.7% *</a:t>
            </a:r>
          </a:p>
        </p:txBody>
      </p:sp>
      <p:sp>
        <p:nvSpPr>
          <p:cNvPr id="18" name="TextBox 17"/>
          <p:cNvSpPr txBox="1"/>
          <p:nvPr/>
        </p:nvSpPr>
        <p:spPr>
          <a:xfrm>
            <a:off x="5212080" y="2999232"/>
            <a:ext cx="1463040" cy="219456"/>
          </a:xfrm>
          <a:prstGeom prst="rect">
            <a:avLst/>
          </a:prstGeom>
          <a:noFill/>
        </p:spPr>
        <p:txBody>
          <a:bodyPr wrap="square">
            <a:spAutoFit/>
          </a:bodyPr>
          <a:lstStyle/>
          <a:p>
            <a:pPr algn="l"/>
            <a:r>
              <a:rPr sz="1200" b="1" i="0">
                <a:solidFill>
                  <a:srgbClr val="FF6060"/>
                </a:solidFill>
              </a:rPr>
              <a:t>9.3%</a:t>
            </a:r>
          </a:p>
        </p:txBody>
      </p:sp>
      <p:sp>
        <p:nvSpPr>
          <p:cNvPr id="19" name="Rectangle 18"/>
          <p:cNvSpPr/>
          <p:nvPr/>
        </p:nvSpPr>
        <p:spPr>
          <a:xfrm>
            <a:off x="749808" y="3438144"/>
            <a:ext cx="6080760" cy="384048"/>
          </a:xfrm>
          <a:prstGeom prst="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474720"/>
            <a:ext cx="1463040" cy="219456"/>
          </a:xfrm>
          <a:prstGeom prst="rect">
            <a:avLst/>
          </a:prstGeom>
          <a:noFill/>
        </p:spPr>
        <p:txBody>
          <a:bodyPr wrap="square">
            <a:spAutoFit/>
          </a:bodyPr>
          <a:lstStyle/>
          <a:p>
            <a:pPr algn="l"/>
            <a:r>
              <a:rPr sz="1200" b="0" i="0">
                <a:solidFill>
                  <a:srgbClr val="888888"/>
                </a:solidFill>
              </a:rPr>
              <a:t>v26n</a:t>
            </a:r>
          </a:p>
        </p:txBody>
      </p:sp>
      <p:sp>
        <p:nvSpPr>
          <p:cNvPr id="21" name="TextBox 20"/>
          <p:cNvSpPr txBox="1"/>
          <p:nvPr/>
        </p:nvSpPr>
        <p:spPr>
          <a:xfrm>
            <a:off x="2286000" y="3474720"/>
            <a:ext cx="1463040" cy="219456"/>
          </a:xfrm>
          <a:prstGeom prst="rect">
            <a:avLst/>
          </a:prstGeom>
          <a:noFill/>
        </p:spPr>
        <p:txBody>
          <a:bodyPr wrap="square">
            <a:spAutoFit/>
          </a:bodyPr>
          <a:lstStyle/>
          <a:p>
            <a:pPr algn="l"/>
            <a:r>
              <a:rPr sz="1200" b="1" i="0">
                <a:solidFill>
                  <a:srgbClr val="FFE066"/>
                </a:solidFill>
              </a:rPr>
              <a:t>45.0%</a:t>
            </a:r>
          </a:p>
        </p:txBody>
      </p:sp>
      <p:sp>
        <p:nvSpPr>
          <p:cNvPr id="22" name="TextBox 21"/>
          <p:cNvSpPr txBox="1"/>
          <p:nvPr/>
        </p:nvSpPr>
        <p:spPr>
          <a:xfrm>
            <a:off x="3749040" y="3474720"/>
            <a:ext cx="1463040" cy="219456"/>
          </a:xfrm>
          <a:prstGeom prst="rect">
            <a:avLst/>
          </a:prstGeom>
          <a:noFill/>
        </p:spPr>
        <p:txBody>
          <a:bodyPr wrap="square">
            <a:spAutoFit/>
          </a:bodyPr>
          <a:lstStyle/>
          <a:p>
            <a:pPr algn="l"/>
            <a:r>
              <a:rPr sz="1200" b="1" i="0">
                <a:solidFill>
                  <a:srgbClr val="FFE066"/>
                </a:solidFill>
              </a:rPr>
              <a:t>24.2%</a:t>
            </a:r>
          </a:p>
        </p:txBody>
      </p:sp>
      <p:sp>
        <p:nvSpPr>
          <p:cNvPr id="23" name="TextBox 22"/>
          <p:cNvSpPr txBox="1"/>
          <p:nvPr/>
        </p:nvSpPr>
        <p:spPr>
          <a:xfrm>
            <a:off x="5212080" y="3474720"/>
            <a:ext cx="1463040" cy="219456"/>
          </a:xfrm>
          <a:prstGeom prst="rect">
            <a:avLst/>
          </a:prstGeom>
          <a:noFill/>
        </p:spPr>
        <p:txBody>
          <a:bodyPr wrap="square">
            <a:spAutoFit/>
          </a:bodyPr>
          <a:lstStyle/>
          <a:p>
            <a:pPr algn="l"/>
            <a:r>
              <a:rPr sz="1200" b="1" i="0">
                <a:solidFill>
                  <a:srgbClr val="FF6060"/>
                </a:solidFill>
              </a:rPr>
              <a:t>16.3% *</a:t>
            </a:r>
          </a:p>
        </p:txBody>
      </p:sp>
      <p:sp>
        <p:nvSpPr>
          <p:cNvPr id="24" name="TextBox 23"/>
          <p:cNvSpPr txBox="1"/>
          <p:nvPr/>
        </p:nvSpPr>
        <p:spPr>
          <a:xfrm>
            <a:off x="822960" y="3703320"/>
            <a:ext cx="6309360" cy="274320"/>
          </a:xfrm>
          <a:prstGeom prst="rect">
            <a:avLst/>
          </a:prstGeom>
          <a:noFill/>
        </p:spPr>
        <p:txBody>
          <a:bodyPr wrap="square">
            <a:spAutoFit/>
          </a:bodyPr>
          <a:lstStyle/>
          <a:p>
            <a:pPr algn="l"/>
            <a:r>
              <a:rPr sz="1000" b="0" i="0">
                <a:solidFill>
                  <a:srgbClr val="888888"/>
                </a:solidFill>
              </a:rPr>
              <a:t>* = white-box  |  off-diagonal = black-box transfer</a:t>
            </a:r>
          </a:p>
        </p:txBody>
      </p:sp>
      <p:sp>
        <p:nvSpPr>
          <p:cNvPr id="25" name="Rectangle 24"/>
          <p:cNvSpPr/>
          <p:nvPr/>
        </p:nvSpPr>
        <p:spPr>
          <a:xfrm>
            <a:off x="822960" y="4069080"/>
            <a:ext cx="6309360" cy="1051560"/>
          </a:xfrm>
          <a:prstGeom prst="rect">
            <a:avLst/>
          </a:prstGeom>
          <a:solidFill>
            <a:srgbClr val="0D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206240"/>
            <a:ext cx="5943600" cy="201168"/>
          </a:xfrm>
          <a:prstGeom prst="rect">
            <a:avLst/>
          </a:prstGeom>
          <a:noFill/>
        </p:spPr>
        <p:txBody>
          <a:bodyPr wrap="square">
            <a:spAutoFit/>
          </a:bodyPr>
          <a:lstStyle/>
          <a:p>
            <a:pPr algn="l"/>
            <a:r>
              <a:rPr sz="900" b="1" i="0">
                <a:solidFill>
                  <a:srgbClr val="60B8FF"/>
                </a:solidFill>
              </a:rPr>
              <a:t>JOINT PATCHES</a:t>
            </a:r>
          </a:p>
        </p:txBody>
      </p:sp>
      <p:sp>
        <p:nvSpPr>
          <p:cNvPr id="27" name="TextBox 26"/>
          <p:cNvSpPr txBox="1"/>
          <p:nvPr/>
        </p:nvSpPr>
        <p:spPr>
          <a:xfrm>
            <a:off x="1005840" y="4526280"/>
            <a:ext cx="5897880" cy="411480"/>
          </a:xfrm>
          <a:prstGeom prst="rect">
            <a:avLst/>
          </a:prstGeom>
          <a:noFill/>
        </p:spPr>
        <p:txBody>
          <a:bodyPr wrap="square">
            <a:spAutoFit/>
          </a:bodyPr>
          <a:lstStyle/>
          <a:p>
            <a:pPr algn="l"/>
            <a:r>
              <a:rPr sz="1200" b="0" i="0">
                <a:solidFill>
                  <a:srgbClr val="CCCCCC"/>
                </a:solidFill>
              </a:rPr>
              <a:t>v8n+v11n -&gt; v8n  85%   |   v8n+v11n -&gt; v11n  66.7%   |   v8n+v26n -&gt; v26n  18.6% (best v26n result)</a:t>
            </a:r>
          </a:p>
        </p:txBody>
      </p:sp>
      <p:sp>
        <p:nvSpPr>
          <p:cNvPr id="28" name="Rectangle 27"/>
          <p:cNvSpPr/>
          <p:nvPr/>
        </p:nvSpPr>
        <p:spPr>
          <a:xfrm>
            <a:off x="7452360" y="2148840"/>
            <a:ext cx="3886200" cy="1325880"/>
          </a:xfrm>
          <a:prstGeom prst="rect">
            <a:avLst/>
          </a:prstGeom>
          <a:solidFill>
            <a:srgbClr val="1A1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35240" y="2286000"/>
            <a:ext cx="3566160" cy="201168"/>
          </a:xfrm>
          <a:prstGeom prst="rect">
            <a:avLst/>
          </a:prstGeom>
          <a:noFill/>
        </p:spPr>
        <p:txBody>
          <a:bodyPr wrap="square">
            <a:spAutoFit/>
          </a:bodyPr>
          <a:lstStyle/>
          <a:p>
            <a:pPr algn="l"/>
            <a:r>
              <a:rPr sz="900" b="1" i="0">
                <a:solidFill>
                  <a:srgbClr val="60B8FF"/>
                </a:solidFill>
              </a:rPr>
              <a:t>ASYMMETRY</a:t>
            </a:r>
          </a:p>
        </p:txBody>
      </p:sp>
      <p:sp>
        <p:nvSpPr>
          <p:cNvPr id="30" name="TextBox 29"/>
          <p:cNvSpPr txBox="1"/>
          <p:nvPr/>
        </p:nvSpPr>
        <p:spPr>
          <a:xfrm>
            <a:off x="7635240" y="2578608"/>
            <a:ext cx="3520440" cy="914400"/>
          </a:xfrm>
          <a:prstGeom prst="rect">
            <a:avLst/>
          </a:prstGeom>
          <a:noFill/>
        </p:spPr>
        <p:txBody>
          <a:bodyPr wrap="square">
            <a:spAutoFit/>
          </a:bodyPr>
          <a:lstStyle/>
          <a:p>
            <a:pPr algn="l"/>
            <a:r>
              <a:rPr sz="1100" b="0" i="0">
                <a:solidFill>
                  <a:srgbClr val="CCCCCC"/>
                </a:solidFill>
              </a:rPr>
              <a:t>v11n -&gt; v8n = 50.0%  &gt;  v8n -&gt; v11n = 33.3%
The asymmetry remains in the current v2 artifacts: newer-generation patches still reach backward better than older patches reach forward.</a:t>
            </a:r>
          </a:p>
        </p:txBody>
      </p:sp>
      <p:sp>
        <p:nvSpPr>
          <p:cNvPr id="31" name="Rectangle 30"/>
          <p:cNvSpPr/>
          <p:nvPr/>
        </p:nvSpPr>
        <p:spPr>
          <a:xfrm>
            <a:off x="7452360" y="3657600"/>
            <a:ext cx="3886200" cy="1874519"/>
          </a:xfrm>
          <a:prstGeom prst="rect">
            <a:avLst/>
          </a:prstGeom>
          <a:solidFill>
            <a:srgbClr val="1A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35240" y="3794760"/>
            <a:ext cx="3566160" cy="201168"/>
          </a:xfrm>
          <a:prstGeom prst="rect">
            <a:avLst/>
          </a:prstGeom>
          <a:noFill/>
        </p:spPr>
        <p:txBody>
          <a:bodyPr wrap="square">
            <a:spAutoFit/>
          </a:bodyPr>
          <a:lstStyle/>
          <a:p>
            <a:pPr algn="l"/>
            <a:r>
              <a:rPr sz="900" b="1" i="0">
                <a:solidFill>
                  <a:srgbClr val="60B8FF"/>
                </a:solidFill>
              </a:rPr>
              <a:t>THE v26n FIREWALL</a:t>
            </a:r>
          </a:p>
        </p:txBody>
      </p:sp>
      <p:sp>
        <p:nvSpPr>
          <p:cNvPr id="33" name="TextBox 32"/>
          <p:cNvSpPr txBox="1"/>
          <p:nvPr/>
        </p:nvSpPr>
        <p:spPr>
          <a:xfrm>
            <a:off x="7635240" y="4087368"/>
            <a:ext cx="3520440" cy="1325880"/>
          </a:xfrm>
          <a:prstGeom prst="rect">
            <a:avLst/>
          </a:prstGeom>
          <a:noFill/>
        </p:spPr>
        <p:txBody>
          <a:bodyPr wrap="square">
            <a:spAutoFit/>
          </a:bodyPr>
          <a:lstStyle/>
          <a:p>
            <a:pPr algn="l"/>
            <a:r>
              <a:rPr sz="1100" b="0" i="0">
                <a:solidFill>
                  <a:srgbClr val="CCCCCC"/>
                </a:solidFill>
              </a:rPr>
              <a:t>v26n remains the hardest target in this study. Nothing in the direct matrix exceeds 16.3% against it, and even the best joint patch only reaches 18.6%.
Yet the v26n patch still transfers out at 45.0% and 24.2%.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822960" y="411480"/>
            <a:ext cx="3657600" cy="256032"/>
          </a:xfrm>
          <a:prstGeom prst="rect">
            <a:avLst/>
          </a:prstGeom>
          <a:noFill/>
        </p:spPr>
        <p:txBody>
          <a:bodyPr wrap="square">
            <a:spAutoFit/>
          </a:bodyPr>
          <a:lstStyle/>
          <a:p>
            <a:pPr algn="l"/>
            <a:r>
              <a:rPr sz="900" b="1" i="0">
                <a:solidFill>
                  <a:srgbClr val="60B8FF"/>
                </a:solidFill>
              </a:rPr>
              <a:t>ATTACK TRACK - DEFENSE BENCHMARK</a:t>
            </a:r>
          </a:p>
        </p:txBody>
      </p:sp>
      <p:sp>
        <p:nvSpPr>
          <p:cNvPr id="3" name="TextBox 2"/>
          <p:cNvSpPr txBox="1"/>
          <p:nvPr/>
        </p:nvSpPr>
        <p:spPr>
          <a:xfrm>
            <a:off x="822960" y="777240"/>
            <a:ext cx="10241280" cy="1463040"/>
          </a:xfrm>
          <a:prstGeom prst="rect">
            <a:avLst/>
          </a:prstGeom>
          <a:noFill/>
        </p:spPr>
        <p:txBody>
          <a:bodyPr wrap="square">
            <a:spAutoFit/>
          </a:bodyPr>
          <a:lstStyle/>
          <a:p>
            <a:pPr algn="l"/>
            <a:r>
              <a:rPr sz="3600" b="1" i="0">
                <a:solidFill>
                  <a:srgbClr val="E8E8F0"/>
                </a:solidFill>
              </a:rPr>
              <a:t>Preprocessing</a:t>
            </a:r>
          </a:p>
          <a:p>
            <a:pPr algn="l"/>
            <a:r>
              <a:rPr sz="3600" b="1" i="0">
                <a:solidFill>
                  <a:srgbClr val="FF6060"/>
                </a:solidFill>
              </a:rPr>
              <a:t>Makes It Worse</a:t>
            </a:r>
          </a:p>
        </p:txBody>
      </p:sp>
      <p:sp>
        <p:nvSpPr>
          <p:cNvPr id="4" name="Rectangle 3"/>
          <p:cNvSpPr/>
          <p:nvPr/>
        </p:nvSpPr>
        <p:spPr>
          <a:xfrm>
            <a:off x="822960" y="1828800"/>
            <a:ext cx="5303520" cy="2971800"/>
          </a:xfrm>
          <a:prstGeom prst="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75104"/>
            <a:ext cx="5303520" cy="201168"/>
          </a:xfrm>
          <a:prstGeom prst="rect">
            <a:avLst/>
          </a:prstGeom>
          <a:noFill/>
        </p:spPr>
        <p:txBody>
          <a:bodyPr wrap="square">
            <a:spAutoFit/>
          </a:bodyPr>
          <a:lstStyle/>
          <a:p>
            <a:pPr algn="l"/>
            <a:r>
              <a:rPr sz="900" b="1" i="0">
                <a:solidFill>
                  <a:srgbClr val="60B8FF"/>
                </a:solidFill>
              </a:rPr>
              <a:t>JPEG COMPRESSION   YOLOv8n patch - 48 images</a:t>
            </a:r>
          </a:p>
        </p:txBody>
      </p:sp>
      <p:sp>
        <p:nvSpPr>
          <p:cNvPr id="6" name="TextBox 5"/>
          <p:cNvSpPr txBox="1"/>
          <p:nvPr/>
        </p:nvSpPr>
        <p:spPr>
          <a:xfrm>
            <a:off x="1005840" y="2267712"/>
            <a:ext cx="4983480" cy="1691640"/>
          </a:xfrm>
          <a:prstGeom prst="rect">
            <a:avLst/>
          </a:prstGeom>
          <a:noFill/>
        </p:spPr>
        <p:txBody>
          <a:bodyPr wrap="square">
            <a:spAutoFit/>
          </a:bodyPr>
          <a:lstStyle/>
          <a:p>
            <a:pPr algn="l"/>
            <a:r>
              <a:rPr sz="1000" b="0" i="0">
                <a:solidFill>
                  <a:srgbClr val="888888"/>
                </a:solidFill>
              </a:rPr>
              <a:t>Quality        Suppression      vs. undefended</a:t>
            </a:r>
          </a:p>
          <a:p>
            <a:pPr algn="l"/>
            <a:r>
              <a:rPr sz="1200" b="0" i="0">
                <a:solidFill>
                  <a:srgbClr val="CCCCCC"/>
                </a:solidFill>
              </a:rPr>
              <a:t>none           85%              baseline</a:t>
            </a:r>
          </a:p>
          <a:p>
            <a:pPr algn="l"/>
            <a:r>
              <a:rPr sz="1200" b="0" i="0">
                <a:solidFill>
                  <a:srgbClr val="FF6060"/>
                </a:solidFill>
              </a:rPr>
              <a:t>95             95%              +10 pp</a:t>
            </a:r>
          </a:p>
          <a:p>
            <a:pPr algn="l"/>
            <a:r>
              <a:rPr sz="1200" b="0" i="0">
                <a:solidFill>
                  <a:srgbClr val="FF6060"/>
                </a:solidFill>
              </a:rPr>
              <a:t>85             90%              +5 pp</a:t>
            </a:r>
          </a:p>
          <a:p>
            <a:pPr algn="l"/>
            <a:r>
              <a:rPr sz="1200" b="0" i="0">
                <a:solidFill>
                  <a:srgbClr val="FF6060"/>
                </a:solidFill>
              </a:rPr>
              <a:t>75             90%              +5 pp</a:t>
            </a:r>
          </a:p>
          <a:p>
            <a:pPr algn="l"/>
            <a:r>
              <a:rPr sz="1200" b="0" i="0">
                <a:solidFill>
                  <a:srgbClr val="888888"/>
                </a:solidFill>
              </a:rPr>
              <a:t>50             80%              -5 pp (clean -29 pp)</a:t>
            </a:r>
          </a:p>
        </p:txBody>
      </p:sp>
      <p:sp>
        <p:nvSpPr>
          <p:cNvPr id="7" name="Rectangle 6"/>
          <p:cNvSpPr/>
          <p:nvPr/>
        </p:nvSpPr>
        <p:spPr>
          <a:xfrm>
            <a:off x="822960" y="4983480"/>
            <a:ext cx="5303520" cy="822960"/>
          </a:xfrm>
          <a:prstGeom prst="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102352"/>
            <a:ext cx="5303520" cy="201168"/>
          </a:xfrm>
          <a:prstGeom prst="rect">
            <a:avLst/>
          </a:prstGeom>
          <a:noFill/>
        </p:spPr>
        <p:txBody>
          <a:bodyPr wrap="square">
            <a:spAutoFit/>
          </a:bodyPr>
          <a:lstStyle/>
          <a:p>
            <a:pPr algn="l"/>
            <a:r>
              <a:rPr sz="900" b="1" i="0">
                <a:solidFill>
                  <a:srgbClr val="60B8FF"/>
                </a:solidFill>
              </a:rPr>
              <a:t>CROP-RESIZE</a:t>
            </a:r>
          </a:p>
        </p:txBody>
      </p:sp>
      <p:sp>
        <p:nvSpPr>
          <p:cNvPr id="9" name="TextBox 8"/>
          <p:cNvSpPr txBox="1"/>
          <p:nvPr/>
        </p:nvSpPr>
        <p:spPr>
          <a:xfrm>
            <a:off x="1005840" y="5321808"/>
            <a:ext cx="4983480" cy="548640"/>
          </a:xfrm>
          <a:prstGeom prst="rect">
            <a:avLst/>
          </a:prstGeom>
          <a:noFill/>
        </p:spPr>
        <p:txBody>
          <a:bodyPr wrap="square">
            <a:spAutoFit/>
          </a:bodyPr>
          <a:lstStyle/>
          <a:p>
            <a:pPr algn="l"/>
            <a:r>
              <a:rPr sz="1000" b="0" i="0">
                <a:solidFill>
                  <a:srgbClr val="CCCCCC"/>
                </a:solidFill>
              </a:rPr>
              <a:t>High variance across seeds. At 95% and 90% retention there is no reliable benefit. Some 85% retention and isolated 90% retention seeds reduce suppression, but the effect is unstable and often trades off against clean detections.</a:t>
            </a:r>
          </a:p>
        </p:txBody>
      </p:sp>
      <p:sp>
        <p:nvSpPr>
          <p:cNvPr id="10" name="Rectangle 9"/>
          <p:cNvSpPr/>
          <p:nvPr/>
        </p:nvSpPr>
        <p:spPr>
          <a:xfrm>
            <a:off x="6537960" y="1828800"/>
            <a:ext cx="5303520" cy="2971800"/>
          </a:xfrm>
          <a:prstGeom prst="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40" y="1975104"/>
            <a:ext cx="5303520" cy="201168"/>
          </a:xfrm>
          <a:prstGeom prst="rect">
            <a:avLst/>
          </a:prstGeom>
          <a:noFill/>
        </p:spPr>
        <p:txBody>
          <a:bodyPr wrap="square">
            <a:spAutoFit/>
          </a:bodyPr>
          <a:lstStyle/>
          <a:p>
            <a:pPr algn="l"/>
            <a:r>
              <a:rPr sz="900" b="1" i="0">
                <a:solidFill>
                  <a:srgbClr val="60B8FF"/>
                </a:solidFill>
              </a:rPr>
              <a:t>GAUSSIAN BLUR</a:t>
            </a:r>
          </a:p>
        </p:txBody>
      </p:sp>
      <p:sp>
        <p:nvSpPr>
          <p:cNvPr id="12" name="TextBox 11"/>
          <p:cNvSpPr txBox="1"/>
          <p:nvPr/>
        </p:nvSpPr>
        <p:spPr>
          <a:xfrm>
            <a:off x="6720840" y="2267712"/>
            <a:ext cx="4983480" cy="1371600"/>
          </a:xfrm>
          <a:prstGeom prst="rect">
            <a:avLst/>
          </a:prstGeom>
          <a:noFill/>
        </p:spPr>
        <p:txBody>
          <a:bodyPr wrap="square">
            <a:spAutoFit/>
          </a:bodyPr>
          <a:lstStyle/>
          <a:p>
            <a:pPr algn="l"/>
            <a:r>
              <a:rPr sz="1000" b="0" i="0">
                <a:solidFill>
                  <a:srgbClr val="888888"/>
                </a:solidFill>
              </a:rPr>
              <a:t>Sigma          Suppression      vs. undefended</a:t>
            </a:r>
          </a:p>
          <a:p>
            <a:pPr algn="l"/>
            <a:r>
              <a:rPr sz="1200" b="0" i="0">
                <a:solidFill>
                  <a:srgbClr val="CCCCCC"/>
                </a:solidFill>
              </a:rPr>
              <a:t>none           85%              baseline</a:t>
            </a:r>
          </a:p>
          <a:p>
            <a:pPr algn="l"/>
            <a:r>
              <a:rPr sz="1200" b="0" i="0">
                <a:solidFill>
                  <a:srgbClr val="FF6060"/>
                </a:solidFill>
              </a:rPr>
              <a:t>1.0            90%              +5 pp</a:t>
            </a:r>
          </a:p>
          <a:p>
            <a:pPr algn="l"/>
            <a:r>
              <a:rPr sz="1200" b="0" i="0">
                <a:solidFill>
                  <a:srgbClr val="FF6060"/>
                </a:solidFill>
              </a:rPr>
              <a:t>2.0            100%             +15 pp</a:t>
            </a:r>
          </a:p>
          <a:p>
            <a:pPr algn="l"/>
            <a:r>
              <a:rPr sz="1200" b="0" i="0">
                <a:solidFill>
                  <a:srgbClr val="FF6060"/>
                </a:solidFill>
              </a:rPr>
              <a:t>3.0            95%              +10 pp</a:t>
            </a:r>
          </a:p>
        </p:txBody>
      </p:sp>
      <p:sp>
        <p:nvSpPr>
          <p:cNvPr id="13" name="Rectangle 12"/>
          <p:cNvSpPr/>
          <p:nvPr/>
        </p:nvSpPr>
        <p:spPr>
          <a:xfrm>
            <a:off x="6537960" y="4572000"/>
            <a:ext cx="5303520" cy="1234440"/>
          </a:xfrm>
          <a:prstGeom prst="rect">
            <a:avLst/>
          </a:prstGeom>
          <a:solidFill>
            <a:srgbClr val="0D1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4709160"/>
            <a:ext cx="5303520" cy="201168"/>
          </a:xfrm>
          <a:prstGeom prst="rect">
            <a:avLst/>
          </a:prstGeom>
          <a:noFill/>
        </p:spPr>
        <p:txBody>
          <a:bodyPr wrap="square">
            <a:spAutoFit/>
          </a:bodyPr>
          <a:lstStyle/>
          <a:p>
            <a:pPr algn="l"/>
            <a:r>
              <a:rPr sz="900" b="1" i="0">
                <a:solidFill>
                  <a:srgbClr val="60B8FF"/>
                </a:solidFill>
              </a:rPr>
              <a:t>WHY</a:t>
            </a:r>
          </a:p>
        </p:txBody>
      </p:sp>
      <p:sp>
        <p:nvSpPr>
          <p:cNvPr id="15" name="TextBox 14"/>
          <p:cNvSpPr txBox="1"/>
          <p:nvPr/>
        </p:nvSpPr>
        <p:spPr>
          <a:xfrm>
            <a:off x="6720840" y="4937760"/>
            <a:ext cx="4983480" cy="640080"/>
          </a:xfrm>
          <a:prstGeom prst="rect">
            <a:avLst/>
          </a:prstGeom>
          <a:noFill/>
        </p:spPr>
        <p:txBody>
          <a:bodyPr wrap="square">
            <a:spAutoFit/>
          </a:bodyPr>
          <a:lstStyle/>
          <a:p>
            <a:pPr algn="l"/>
            <a:r>
              <a:rPr sz="1100" b="0" i="0">
                <a:solidFill>
                  <a:srgbClr val="CCCCCC"/>
                </a:solidFill>
              </a:rPr>
              <a:t>Adversarial patches concentrate signal in a dense region. Blur and compression suppress helpful clean texture while leaving the patch's dominant structure intact.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822960" y="411480"/>
            <a:ext cx="3657600" cy="256032"/>
          </a:xfrm>
          <a:prstGeom prst="rect">
            <a:avLst/>
          </a:prstGeom>
          <a:noFill/>
        </p:spPr>
        <p:txBody>
          <a:bodyPr wrap="square">
            <a:spAutoFit/>
          </a:bodyPr>
          <a:lstStyle/>
          <a:p>
            <a:pPr algn="l"/>
            <a:r>
              <a:rPr sz="900" b="1" i="0">
                <a:solidFill>
                  <a:srgbClr val="60B8FF"/>
                </a:solidFill>
              </a:rPr>
              <a:t>ATTACK TRACK - ARCHITECTURAL FINDING</a:t>
            </a:r>
          </a:p>
        </p:txBody>
      </p:sp>
      <p:sp>
        <p:nvSpPr>
          <p:cNvPr id="3" name="TextBox 2"/>
          <p:cNvSpPr txBox="1"/>
          <p:nvPr/>
        </p:nvSpPr>
        <p:spPr>
          <a:xfrm>
            <a:off x="822960" y="777240"/>
            <a:ext cx="10241280" cy="1463040"/>
          </a:xfrm>
          <a:prstGeom prst="rect">
            <a:avLst/>
          </a:prstGeom>
          <a:noFill/>
        </p:spPr>
        <p:txBody>
          <a:bodyPr wrap="square">
            <a:spAutoFit/>
          </a:bodyPr>
          <a:lstStyle/>
          <a:p>
            <a:pPr algn="l"/>
            <a:r>
              <a:rPr sz="3600" b="1" i="0">
                <a:solidFill>
                  <a:srgbClr val="E8E8F0"/>
                </a:solidFill>
              </a:rPr>
              <a:t>The</a:t>
            </a:r>
          </a:p>
          <a:p>
            <a:pPr algn="l"/>
            <a:r>
              <a:rPr sz="3600" b="1" i="0">
                <a:solidFill>
                  <a:srgbClr val="FF6060"/>
                </a:solidFill>
              </a:rPr>
              <a:t>v26n Paradox</a:t>
            </a:r>
          </a:p>
        </p:txBody>
      </p:sp>
      <p:sp>
        <p:nvSpPr>
          <p:cNvPr id="4" name="Rectangle 3"/>
          <p:cNvSpPr/>
          <p:nvPr/>
        </p:nvSpPr>
        <p:spPr>
          <a:xfrm>
            <a:off x="822960" y="1828800"/>
            <a:ext cx="5212080" cy="1417320"/>
          </a:xfrm>
          <a:prstGeom prst="rect">
            <a:avLst/>
          </a:prstGeom>
          <a:solidFill>
            <a:srgbClr val="1A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65960"/>
            <a:ext cx="5212080" cy="201168"/>
          </a:xfrm>
          <a:prstGeom prst="rect">
            <a:avLst/>
          </a:prstGeom>
          <a:noFill/>
        </p:spPr>
        <p:txBody>
          <a:bodyPr wrap="square">
            <a:spAutoFit/>
          </a:bodyPr>
          <a:lstStyle/>
          <a:p>
            <a:pPr algn="l"/>
            <a:r>
              <a:rPr sz="900" b="1" i="0">
                <a:solidFill>
                  <a:srgbClr val="60B8FF"/>
                </a:solidFill>
              </a:rPr>
              <a:t>WHAT HAPPENED</a:t>
            </a:r>
          </a:p>
        </p:txBody>
      </p:sp>
      <p:sp>
        <p:nvSpPr>
          <p:cNvPr id="6" name="TextBox 5"/>
          <p:cNvSpPr txBox="1"/>
          <p:nvPr/>
        </p:nvSpPr>
        <p:spPr>
          <a:xfrm>
            <a:off x="1005840" y="2267712"/>
            <a:ext cx="4892040" cy="822960"/>
          </a:xfrm>
          <a:prstGeom prst="rect">
            <a:avLst/>
          </a:prstGeom>
          <a:noFill/>
        </p:spPr>
        <p:txBody>
          <a:bodyPr wrap="square">
            <a:spAutoFit/>
          </a:bodyPr>
          <a:lstStyle/>
          <a:p>
            <a:pPr algn="l"/>
            <a:r>
              <a:rPr sz="1200" b="0" i="0">
                <a:solidFill>
                  <a:srgbClr val="CCCCCC"/>
                </a:solidFill>
              </a:rPr>
              <a:t>The optimized objective converged on the scored head.</a:t>
            </a:r>
          </a:p>
          <a:p>
            <a:pPr algn="l"/>
            <a:r>
              <a:rPr sz="1200" b="0" i="0">
                <a:solidFill>
                  <a:srgbClr val="FF6060"/>
                </a:solidFill>
              </a:rPr>
              <a:t>final_det_loss = 0.108 on the one2many path.</a:t>
            </a:r>
          </a:p>
          <a:p>
            <a:pPr algn="l"/>
            <a:r>
              <a:rPr sz="1200" b="0" i="0">
                <a:solidFill>
                  <a:srgbClr val="CCCCCC"/>
                </a:solidFill>
              </a:rPr>
              <a:t>Suppression: only 16.3%.</a:t>
            </a:r>
          </a:p>
        </p:txBody>
      </p:sp>
      <p:sp>
        <p:nvSpPr>
          <p:cNvPr id="7" name="Rectangle 6"/>
          <p:cNvSpPr/>
          <p:nvPr/>
        </p:nvSpPr>
        <p:spPr>
          <a:xfrm>
            <a:off x="822960" y="3337560"/>
            <a:ext cx="5212080" cy="2148840"/>
          </a:xfrm>
          <a:prstGeom prst="rect">
            <a:avLst/>
          </a:prstGeom>
          <a:solidFill>
            <a:srgbClr val="0D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474720"/>
            <a:ext cx="5212080" cy="201168"/>
          </a:xfrm>
          <a:prstGeom prst="rect">
            <a:avLst/>
          </a:prstGeom>
          <a:noFill/>
        </p:spPr>
        <p:txBody>
          <a:bodyPr wrap="square">
            <a:spAutoFit/>
          </a:bodyPr>
          <a:lstStyle/>
          <a:p>
            <a:pPr algn="l"/>
            <a:r>
              <a:rPr sz="900" b="1" i="0">
                <a:solidFill>
                  <a:srgbClr val="60B8FF"/>
                </a:solidFill>
              </a:rPr>
              <a:t>ROOT CAUSE</a:t>
            </a:r>
          </a:p>
        </p:txBody>
      </p:sp>
      <p:sp>
        <p:nvSpPr>
          <p:cNvPr id="9" name="TextBox 8"/>
          <p:cNvSpPr txBox="1"/>
          <p:nvPr/>
        </p:nvSpPr>
        <p:spPr>
          <a:xfrm>
            <a:off x="1005840" y="3730752"/>
            <a:ext cx="4892040" cy="320040"/>
          </a:xfrm>
          <a:prstGeom prst="rect">
            <a:avLst/>
          </a:prstGeom>
          <a:noFill/>
        </p:spPr>
        <p:txBody>
          <a:bodyPr wrap="square">
            <a:spAutoFit/>
          </a:bodyPr>
          <a:lstStyle/>
          <a:p>
            <a:pPr algn="l"/>
            <a:r>
              <a:rPr sz="1200" b="0" i="0">
                <a:solidFill>
                  <a:srgbClr val="CCCCCC"/>
                </a:solidFill>
              </a:rPr>
              <a:t>YOLO26n uses end-to-end Hungarian matching (head_end2end: true).</a:t>
            </a:r>
          </a:p>
        </p:txBody>
      </p:sp>
      <p:sp>
        <p:nvSpPr>
          <p:cNvPr id="10" name="TextBox 9"/>
          <p:cNvSpPr txBox="1"/>
          <p:nvPr/>
        </p:nvSpPr>
        <p:spPr>
          <a:xfrm>
            <a:off x="1005840" y="4160520"/>
            <a:ext cx="4892040" cy="914400"/>
          </a:xfrm>
          <a:prstGeom prst="rect">
            <a:avLst/>
          </a:prstGeom>
          <a:noFill/>
        </p:spPr>
        <p:txBody>
          <a:bodyPr wrap="square">
            <a:spAutoFit/>
          </a:bodyPr>
          <a:lstStyle/>
          <a:p>
            <a:pPr algn="l"/>
            <a:r>
              <a:rPr sz="1200" b="0" i="0">
                <a:solidFill>
                  <a:srgbClr val="CCCCCC"/>
                </a:solidFill>
              </a:rPr>
              <a:t>- Training optimizes the one2many auxiliary head</a:t>
            </a:r>
          </a:p>
          <a:p>
            <a:pPr algn="l"/>
            <a:r>
              <a:rPr sz="1200" b="0" i="0">
                <a:solidFill>
                  <a:srgbClr val="CCCCCC"/>
                </a:solidFill>
              </a:rPr>
              <a:t>- Inference uses the one2one head for final detections</a:t>
            </a:r>
          </a:p>
          <a:p>
            <a:pPr algn="l"/>
            <a:r>
              <a:rPr sz="1200" b="0" i="0">
                <a:solidFill>
                  <a:srgbClr val="CCCCCC"/>
                </a:solidFill>
              </a:rPr>
              <a:t>- These heads are architecturally separate</a:t>
            </a:r>
          </a:p>
        </p:txBody>
      </p:sp>
      <p:sp>
        <p:nvSpPr>
          <p:cNvPr id="11" name="Rectangle 10"/>
          <p:cNvSpPr/>
          <p:nvPr/>
        </p:nvSpPr>
        <p:spPr>
          <a:xfrm>
            <a:off x="6400800" y="1828800"/>
            <a:ext cx="5212080" cy="1874519"/>
          </a:xfrm>
          <a:prstGeom prst="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965960"/>
            <a:ext cx="5212080" cy="201168"/>
          </a:xfrm>
          <a:prstGeom prst="rect">
            <a:avLst/>
          </a:prstGeom>
          <a:noFill/>
        </p:spPr>
        <p:txBody>
          <a:bodyPr wrap="square">
            <a:spAutoFit/>
          </a:bodyPr>
          <a:lstStyle/>
          <a:p>
            <a:pPr algn="l"/>
            <a:r>
              <a:rPr sz="900" b="1" i="0">
                <a:solidFill>
                  <a:srgbClr val="60B8FF"/>
                </a:solidFill>
              </a:rPr>
              <a:t>THREE EXPERIMENTS - SAME ANSWER</a:t>
            </a:r>
          </a:p>
        </p:txBody>
      </p:sp>
      <p:sp>
        <p:nvSpPr>
          <p:cNvPr id="13" name="TextBox 12"/>
          <p:cNvSpPr txBox="1"/>
          <p:nvPr/>
        </p:nvSpPr>
        <p:spPr>
          <a:xfrm>
            <a:off x="6583680" y="2286000"/>
            <a:ext cx="4892040" cy="1097280"/>
          </a:xfrm>
          <a:prstGeom prst="rect">
            <a:avLst/>
          </a:prstGeom>
          <a:noFill/>
        </p:spPr>
        <p:txBody>
          <a:bodyPr wrap="square">
            <a:spAutoFit/>
          </a:bodyPr>
          <a:lstStyle/>
          <a:p>
            <a:pPr algn="l"/>
            <a:r>
              <a:rPr sz="1000" b="0" i="0">
                <a:solidFill>
                  <a:srgbClr val="888888"/>
                </a:solidFill>
              </a:rPr>
              <a:t>Experiment                            Loss      Suppression</a:t>
            </a:r>
          </a:p>
          <a:p>
            <a:pPr algn="l"/>
            <a:r>
              <a:rPr sz="1200" b="0" i="0">
                <a:solidFill>
                  <a:srgbClr val="CCCCCC"/>
                </a:solidFill>
              </a:rPr>
              <a:t>Cold start - one2many loss           0.108     16.3%</a:t>
            </a:r>
          </a:p>
          <a:p>
            <a:pPr algn="l"/>
            <a:r>
              <a:rPr sz="1200" b="0" i="0">
                <a:solidFill>
                  <a:srgbClr val="CCCCCC"/>
                </a:solidFill>
              </a:rPr>
              <a:t>Warm start from v8n 90% patch        0.103     14.0%</a:t>
            </a:r>
          </a:p>
          <a:p>
            <a:pPr algn="l"/>
            <a:r>
              <a:rPr sz="1200" b="0" i="0">
                <a:solidFill>
                  <a:srgbClr val="CCCCCC"/>
                </a:solidFill>
              </a:rPr>
              <a:t>Cold start - one2one loss            0.094     11.6%</a:t>
            </a:r>
          </a:p>
        </p:txBody>
      </p:sp>
      <p:sp>
        <p:nvSpPr>
          <p:cNvPr id="14" name="TextBox 13"/>
          <p:cNvSpPr txBox="1"/>
          <p:nvPr/>
        </p:nvSpPr>
        <p:spPr>
          <a:xfrm>
            <a:off x="6583680" y="3401568"/>
            <a:ext cx="4892040" cy="228600"/>
          </a:xfrm>
          <a:prstGeom prst="rect">
            <a:avLst/>
          </a:prstGeom>
          <a:noFill/>
        </p:spPr>
        <p:txBody>
          <a:bodyPr wrap="square">
            <a:spAutoFit/>
          </a:bodyPr>
          <a:lstStyle/>
          <a:p>
            <a:pPr algn="l"/>
            <a:r>
              <a:rPr sz="1000" b="0" i="0">
                <a:solidFill>
                  <a:srgbClr val="888888"/>
                </a:solidFill>
              </a:rPr>
              <a:t>Better objective convergence -&gt; less suppression. The relationship is inverted.</a:t>
            </a:r>
          </a:p>
        </p:txBody>
      </p:sp>
      <p:sp>
        <p:nvSpPr>
          <p:cNvPr id="15" name="Rectangle 14"/>
          <p:cNvSpPr/>
          <p:nvPr/>
        </p:nvSpPr>
        <p:spPr>
          <a:xfrm>
            <a:off x="6400800" y="3840480"/>
            <a:ext cx="5212080" cy="1645920"/>
          </a:xfrm>
          <a:prstGeom prst="rect">
            <a:avLst/>
          </a:prstGeom>
          <a:solidFill>
            <a:srgbClr val="0D1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3977639"/>
            <a:ext cx="5212080" cy="201168"/>
          </a:xfrm>
          <a:prstGeom prst="rect">
            <a:avLst/>
          </a:prstGeom>
          <a:noFill/>
        </p:spPr>
        <p:txBody>
          <a:bodyPr wrap="square">
            <a:spAutoFit/>
          </a:bodyPr>
          <a:lstStyle/>
          <a:p>
            <a:pPr algn="l"/>
            <a:r>
              <a:rPr sz="900" b="1" i="0">
                <a:solidFill>
                  <a:srgbClr val="60B8FF"/>
                </a:solidFill>
              </a:rPr>
              <a:t>CONCLUSION</a:t>
            </a:r>
          </a:p>
        </p:txBody>
      </p:sp>
      <p:sp>
        <p:nvSpPr>
          <p:cNvPr id="17" name="TextBox 16"/>
          <p:cNvSpPr txBox="1"/>
          <p:nvPr/>
        </p:nvSpPr>
        <p:spPr>
          <a:xfrm>
            <a:off x="6583680" y="4279392"/>
            <a:ext cx="4892040" cy="914400"/>
          </a:xfrm>
          <a:prstGeom prst="rect">
            <a:avLst/>
          </a:prstGeom>
          <a:noFill/>
        </p:spPr>
        <p:txBody>
          <a:bodyPr wrap="square">
            <a:spAutoFit/>
          </a:bodyPr>
          <a:lstStyle/>
          <a:p>
            <a:pPr algn="l"/>
            <a:r>
              <a:rPr sz="1200" b="0" i="0">
                <a:solidFill>
                  <a:srgbClr val="CCCCCC"/>
                </a:solidFill>
              </a:rPr>
              <a:t>YOLO26n shows strong resistance to this attack class in the current setup. The matching architecture decouples the optimized objective from the inference path, so targeting either head in isolation did not break through.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822960" y="411480"/>
            <a:ext cx="3657600" cy="256032"/>
          </a:xfrm>
          <a:prstGeom prst="rect">
            <a:avLst/>
          </a:prstGeom>
          <a:noFill/>
        </p:spPr>
        <p:txBody>
          <a:bodyPr wrap="square">
            <a:spAutoFit/>
          </a:bodyPr>
          <a:lstStyle/>
          <a:p>
            <a:pPr algn="l"/>
            <a:r>
              <a:rPr sz="900" b="1" i="0">
                <a:solidFill>
                  <a:srgbClr val="60B8FF"/>
                </a:solidFill>
              </a:rPr>
              <a:t>DEFENSE TRACK - FINDINGS</a:t>
            </a:r>
          </a:p>
        </p:txBody>
      </p:sp>
      <p:sp>
        <p:nvSpPr>
          <p:cNvPr id="3" name="TextBox 2"/>
          <p:cNvSpPr txBox="1"/>
          <p:nvPr/>
        </p:nvSpPr>
        <p:spPr>
          <a:xfrm>
            <a:off x="822960" y="777240"/>
            <a:ext cx="10241280" cy="1463040"/>
          </a:xfrm>
          <a:prstGeom prst="rect">
            <a:avLst/>
          </a:prstGeom>
          <a:noFill/>
        </p:spPr>
        <p:txBody>
          <a:bodyPr wrap="square">
            <a:spAutoFit/>
          </a:bodyPr>
          <a:lstStyle/>
          <a:p>
            <a:pPr algn="l"/>
            <a:r>
              <a:rPr sz="3800" b="1" i="0">
                <a:solidFill>
                  <a:srgbClr val="E8E8F0"/>
                </a:solidFill>
              </a:rPr>
              <a:t>Automated</a:t>
            </a:r>
          </a:p>
          <a:p>
            <a:pPr algn="l"/>
            <a:r>
              <a:rPr sz="3800" b="1" i="0">
                <a:solidFill>
                  <a:srgbClr val="60B8FF"/>
                </a:solidFill>
              </a:rPr>
              <a:t>Arms Race</a:t>
            </a:r>
          </a:p>
        </p:txBody>
      </p:sp>
      <p:sp>
        <p:nvSpPr>
          <p:cNvPr id="4" name="TextBox 3"/>
          <p:cNvSpPr txBox="1"/>
          <p:nvPr/>
        </p:nvSpPr>
        <p:spPr>
          <a:xfrm>
            <a:off x="822960" y="1828800"/>
            <a:ext cx="5303520" cy="1051560"/>
          </a:xfrm>
          <a:prstGeom prst="rect">
            <a:avLst/>
          </a:prstGeom>
          <a:noFill/>
        </p:spPr>
        <p:txBody>
          <a:bodyPr wrap="square">
            <a:spAutoFit/>
          </a:bodyPr>
          <a:lstStyle/>
          <a:p>
            <a:pPr algn="l"/>
            <a:r>
              <a:rPr sz="1200" b="0" i="0">
                <a:solidFill>
                  <a:srgbClr val="CCCCCC"/>
                </a:solidFill>
              </a:rPr>
              <a:t>This slide uses the latest canonical cycle from YOLO-Bad-Triangle. The repo records 22 cycles overall, but this snapshot is cycle 22 from the current attack_then_defense series. Latest validated attacks: DeepFool, dispersion reduction, and square. Active defenses: JPEG, median filter, bit-depth reduction, and c_dog.</a:t>
            </a:r>
          </a:p>
        </p:txBody>
      </p:sp>
      <p:sp>
        <p:nvSpPr>
          <p:cNvPr id="5" name="Rectangle 4"/>
          <p:cNvSpPr/>
          <p:nvPr/>
        </p:nvSpPr>
        <p:spPr>
          <a:xfrm>
            <a:off x="822960" y="2834640"/>
            <a:ext cx="5303520" cy="1554480"/>
          </a:xfrm>
          <a:prstGeom prst="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090672"/>
            <a:ext cx="4937760" cy="914400"/>
          </a:xfrm>
          <a:prstGeom prst="rect">
            <a:avLst/>
          </a:prstGeom>
          <a:noFill/>
        </p:spPr>
        <p:txBody>
          <a:bodyPr wrap="square">
            <a:spAutoFit/>
          </a:bodyPr>
          <a:lstStyle/>
          <a:p>
            <a:pPr algn="l"/>
            <a:r>
              <a:rPr sz="1000" b="0" i="0">
                <a:solidFill>
                  <a:srgbClr val="888888"/>
                </a:solidFill>
              </a:rPr>
              <a:t>Config                                   mAP50      vs clean</a:t>
            </a:r>
          </a:p>
          <a:p>
            <a:pPr algn="l"/>
            <a:r>
              <a:rPr sz="1200" b="0" i="0">
                <a:solidFill>
                  <a:srgbClr val="3EFFA0"/>
                </a:solidFill>
              </a:rPr>
              <a:t>Clean baseline                           0.600      -</a:t>
            </a:r>
          </a:p>
          <a:p>
            <a:pPr algn="l"/>
            <a:r>
              <a:rPr sz="1100" b="0" i="0">
                <a:solidFill>
                  <a:srgbClr val="FF6060"/>
                </a:solidFill>
              </a:rPr>
              <a:t>Worst latest-cycle attack   dispersion_reduction    0.238   -60%</a:t>
            </a:r>
          </a:p>
          <a:p>
            <a:pPr algn="l"/>
            <a:r>
              <a:rPr sz="1100" b="0" i="0">
                <a:solidFill>
                  <a:srgbClr val="FFE066"/>
                </a:solidFill>
              </a:rPr>
              <a:t>Best latest-cycle defended config  square + c_dog  0.394   -34%</a:t>
            </a:r>
          </a:p>
        </p:txBody>
      </p:sp>
      <p:sp>
        <p:nvSpPr>
          <p:cNvPr id="7" name="Rectangle 6"/>
          <p:cNvSpPr/>
          <p:nvPr/>
        </p:nvSpPr>
        <p:spPr>
          <a:xfrm>
            <a:off x="6537960" y="1828800"/>
            <a:ext cx="4800600" cy="2148840"/>
          </a:xfrm>
          <a:prstGeom prst="rect">
            <a:avLst/>
          </a:prstGeom>
          <a:solidFill>
            <a:srgbClr val="0D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20840" y="1965960"/>
            <a:ext cx="4389120" cy="201168"/>
          </a:xfrm>
          <a:prstGeom prst="rect">
            <a:avLst/>
          </a:prstGeom>
          <a:noFill/>
        </p:spPr>
        <p:txBody>
          <a:bodyPr wrap="square">
            <a:spAutoFit/>
          </a:bodyPr>
          <a:lstStyle/>
          <a:p>
            <a:pPr algn="l"/>
            <a:r>
              <a:rPr sz="900" b="1" i="0">
                <a:solidFill>
                  <a:srgbClr val="60B8FF"/>
                </a:solidFill>
              </a:rPr>
              <a:t>ADVERSARIAL FINETUNING</a:t>
            </a:r>
          </a:p>
        </p:txBody>
      </p:sp>
      <p:sp>
        <p:nvSpPr>
          <p:cNvPr id="9" name="TextBox 8"/>
          <p:cNvSpPr txBox="1"/>
          <p:nvPr/>
        </p:nvSpPr>
        <p:spPr>
          <a:xfrm>
            <a:off x="6720840" y="2267712"/>
            <a:ext cx="4480560" cy="914400"/>
          </a:xfrm>
          <a:prstGeom prst="rect">
            <a:avLst/>
          </a:prstGeom>
          <a:noFill/>
        </p:spPr>
        <p:txBody>
          <a:bodyPr wrap="square">
            <a:spAutoFit/>
          </a:bodyPr>
          <a:lstStyle/>
          <a:p>
            <a:pPr algn="l"/>
            <a:r>
              <a:rPr sz="1100" b="0" i="0">
                <a:solidFill>
                  <a:srgbClr val="CCCCCC"/>
                </a:solidFill>
              </a:rPr>
              <a:t>DPC-UNet denoiser checkpoint finetuned on adversarial image pairs (square x5 oversample + DeepFool + blur + square pairs). Candidate deployed only after clean A/B comparison against the current c_dog checkpoint.</a:t>
            </a:r>
          </a:p>
        </p:txBody>
      </p:sp>
      <p:sp>
        <p:nvSpPr>
          <p:cNvPr id="10" name="TextBox 9"/>
          <p:cNvSpPr txBox="1"/>
          <p:nvPr/>
        </p:nvSpPr>
        <p:spPr>
          <a:xfrm>
            <a:off x="6720840" y="3200400"/>
            <a:ext cx="4480560" cy="594360"/>
          </a:xfrm>
          <a:prstGeom prst="rect">
            <a:avLst/>
          </a:prstGeom>
          <a:noFill/>
        </p:spPr>
        <p:txBody>
          <a:bodyPr wrap="square">
            <a:spAutoFit/>
          </a:bodyPr>
          <a:lstStyle/>
          <a:p>
            <a:pPr algn="l"/>
            <a:r>
              <a:rPr sz="1100" b="0" i="0">
                <a:solidFill>
                  <a:srgbClr val="CCCCCC"/>
                </a:solidFill>
              </a:rPr>
              <a:t>- Clean performance: +0.0025 mAP50 versus previous checkpoint - no regression</a:t>
            </a:r>
          </a:p>
          <a:p>
            <a:pPr algn="l"/>
            <a:r>
              <a:rPr sz="1100" b="0" i="0">
                <a:solidFill>
                  <a:srgbClr val="CCCCCC"/>
                </a:solidFill>
              </a:rPr>
              <a:t>- Attack resistance: delta within noise - no measurable gain yet</a:t>
            </a:r>
          </a:p>
        </p:txBody>
      </p:sp>
      <p:sp>
        <p:nvSpPr>
          <p:cNvPr id="11" name="Rectangle 10"/>
          <p:cNvSpPr/>
          <p:nvPr/>
        </p:nvSpPr>
        <p:spPr>
          <a:xfrm>
            <a:off x="6537960" y="4160520"/>
            <a:ext cx="4800600" cy="1325880"/>
          </a:xfrm>
          <a:prstGeom prst="rect">
            <a:avLst/>
          </a:prstGeom>
          <a:solidFill>
            <a:srgbClr val="0D1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40" y="4206240"/>
            <a:ext cx="4389120" cy="201168"/>
          </a:xfrm>
          <a:prstGeom prst="rect">
            <a:avLst/>
          </a:prstGeom>
          <a:noFill/>
        </p:spPr>
        <p:txBody>
          <a:bodyPr wrap="square">
            <a:spAutoFit/>
          </a:bodyPr>
          <a:lstStyle/>
          <a:p>
            <a:pPr algn="l"/>
            <a:r>
              <a:rPr sz="900" b="1" i="0">
                <a:solidFill>
                  <a:srgbClr val="60B8FF"/>
                </a:solidFill>
              </a:rPr>
              <a:t>STATE OF PLAY</a:t>
            </a:r>
          </a:p>
        </p:txBody>
      </p:sp>
      <p:sp>
        <p:nvSpPr>
          <p:cNvPr id="13" name="TextBox 12"/>
          <p:cNvSpPr txBox="1"/>
          <p:nvPr/>
        </p:nvSpPr>
        <p:spPr>
          <a:xfrm>
            <a:off x="6720840" y="4480560"/>
            <a:ext cx="4480560" cy="822960"/>
          </a:xfrm>
          <a:prstGeom prst="rect">
            <a:avLst/>
          </a:prstGeom>
          <a:noFill/>
        </p:spPr>
        <p:txBody>
          <a:bodyPr wrap="square">
            <a:spAutoFit/>
          </a:bodyPr>
          <a:lstStyle/>
          <a:p>
            <a:pPr algn="l"/>
            <a:r>
              <a:rPr sz="1100" b="0" i="0">
                <a:solidFill>
                  <a:srgbClr val="CCCCCC"/>
                </a:solidFill>
              </a:rPr>
              <a:t>No universal defense has emerged. In the current canonical series, c_dog is strongest on square, while median preprocessing is stronger on deepfool. Finetuning is clean-safe but has not yet produced a measurable robustness gain.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822960" y="411480"/>
            <a:ext cx="3657600" cy="256032"/>
          </a:xfrm>
          <a:prstGeom prst="rect">
            <a:avLst/>
          </a:prstGeom>
          <a:noFill/>
        </p:spPr>
        <p:txBody>
          <a:bodyPr wrap="square">
            <a:spAutoFit/>
          </a:bodyPr>
          <a:lstStyle/>
          <a:p>
            <a:pPr algn="l"/>
            <a:r>
              <a:rPr sz="900" b="1" i="0">
                <a:solidFill>
                  <a:srgbClr val="60B8FF"/>
                </a:solidFill>
              </a:rPr>
              <a:t>DEFENSE TRACK - METHODOLOGY</a:t>
            </a:r>
          </a:p>
        </p:txBody>
      </p:sp>
      <p:sp>
        <p:nvSpPr>
          <p:cNvPr id="3" name="TextBox 2"/>
          <p:cNvSpPr txBox="1"/>
          <p:nvPr/>
        </p:nvSpPr>
        <p:spPr>
          <a:xfrm>
            <a:off x="822960" y="777240"/>
            <a:ext cx="10241280" cy="1463040"/>
          </a:xfrm>
          <a:prstGeom prst="rect">
            <a:avLst/>
          </a:prstGeom>
          <a:noFill/>
        </p:spPr>
        <p:txBody>
          <a:bodyPr wrap="square">
            <a:spAutoFit/>
          </a:bodyPr>
          <a:lstStyle/>
          <a:p>
            <a:pPr algn="l"/>
            <a:r>
              <a:rPr sz="3800" b="1" i="0">
                <a:solidFill>
                  <a:srgbClr val="E8E8F0"/>
                </a:solidFill>
              </a:rPr>
              <a:t>Arms Race</a:t>
            </a:r>
          </a:p>
          <a:p>
            <a:pPr algn="l"/>
            <a:r>
              <a:rPr sz="3800" b="1" i="0">
                <a:solidFill>
                  <a:srgbClr val="60B8FF"/>
                </a:solidFill>
              </a:rPr>
              <a:t>Engineering</a:t>
            </a:r>
          </a:p>
        </p:txBody>
      </p:sp>
      <p:sp>
        <p:nvSpPr>
          <p:cNvPr id="4" name="Rectangle 3"/>
          <p:cNvSpPr/>
          <p:nvPr/>
        </p:nvSpPr>
        <p:spPr>
          <a:xfrm>
            <a:off x="822960" y="1828800"/>
            <a:ext cx="5303520" cy="3840480"/>
          </a:xfrm>
          <a:prstGeom prst="rect">
            <a:avLst/>
          </a:prstGeom>
          <a:solidFill>
            <a:srgbClr val="0D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65960"/>
            <a:ext cx="4937760" cy="201168"/>
          </a:xfrm>
          <a:prstGeom prst="rect">
            <a:avLst/>
          </a:prstGeom>
          <a:noFill/>
        </p:spPr>
        <p:txBody>
          <a:bodyPr wrap="square">
            <a:spAutoFit/>
          </a:bodyPr>
          <a:lstStyle/>
          <a:p>
            <a:pPr algn="l"/>
            <a:r>
              <a:rPr sz="900" b="1" i="0">
                <a:solidFill>
                  <a:srgbClr val="60B8FF"/>
                </a:solidFill>
              </a:rPr>
              <a:t>4-PHASE AUTOMATION PIPELINE</a:t>
            </a:r>
          </a:p>
        </p:txBody>
      </p:sp>
      <p:sp>
        <p:nvSpPr>
          <p:cNvPr id="6" name="TextBox 5"/>
          <p:cNvSpPr txBox="1"/>
          <p:nvPr/>
        </p:nvSpPr>
        <p:spPr>
          <a:xfrm>
            <a:off x="1005840" y="2331720"/>
            <a:ext cx="4937760" cy="1874519"/>
          </a:xfrm>
          <a:prstGeom prst="rect">
            <a:avLst/>
          </a:prstGeom>
          <a:noFill/>
        </p:spPr>
        <p:txBody>
          <a:bodyPr wrap="square">
            <a:spAutoFit/>
          </a:bodyPr>
          <a:lstStyle/>
          <a:p>
            <a:pPr algn="l"/>
            <a:r>
              <a:rPr sz="1100" b="0" i="0">
                <a:solidFill>
                  <a:srgbClr val="CCCCCC"/>
                </a:solidFill>
              </a:rPr>
              <a:t>- Phase 1 - Characterize: smoke-rank candidate attacks</a:t>
            </a:r>
          </a:p>
          <a:p>
            <a:pPr algn="l"/>
            <a:r>
              <a:rPr sz="1100" b="0" i="0">
                <a:solidFill>
                  <a:srgbClr val="CCCCCC"/>
                </a:solidFill>
              </a:rPr>
              <a:t>- Phase 2 - Matrix: smoke-rank candidate defenses against top attacks</a:t>
            </a:r>
          </a:p>
          <a:p>
            <a:pPr algn="l"/>
            <a:r>
              <a:rPr sz="1100" b="0" i="0">
                <a:solidFill>
                  <a:srgbClr val="CCCCCC"/>
                </a:solidFill>
              </a:rPr>
              <a:t>- Phase 3 - Tune: coordinate-descent best attack and defense params</a:t>
            </a:r>
          </a:p>
          <a:p>
            <a:pPr algn="l"/>
            <a:r>
              <a:rPr sz="1100" b="0" i="0">
                <a:solidFill>
                  <a:srgbClr val="CCCCCC"/>
                </a:solidFill>
              </a:rPr>
              <a:t>- Phase 4 - Validate + report: full-dataset mAP50 validation and artifact/report generation</a:t>
            </a:r>
          </a:p>
        </p:txBody>
      </p:sp>
      <p:sp>
        <p:nvSpPr>
          <p:cNvPr id="7" name="TextBox 6"/>
          <p:cNvSpPr txBox="1"/>
          <p:nvPr/>
        </p:nvSpPr>
        <p:spPr>
          <a:xfrm>
            <a:off x="1005840" y="4224528"/>
            <a:ext cx="4937760" cy="502920"/>
          </a:xfrm>
          <a:prstGeom prst="rect">
            <a:avLst/>
          </a:prstGeom>
          <a:noFill/>
        </p:spPr>
        <p:txBody>
          <a:bodyPr wrap="square">
            <a:spAutoFit/>
          </a:bodyPr>
          <a:lstStyle/>
          <a:p>
            <a:pPr algn="l"/>
            <a:r>
              <a:rPr sz="1100" b="0" i="0">
                <a:solidFill>
                  <a:srgbClr val="CCCCCC"/>
                </a:solidFill>
              </a:rPr>
              <a:t>Checkpoint promotion is a separate clean A/B step for the c_dog denoiser: deploy only if the candidate does not regress versus the current checkpoint.</a:t>
            </a:r>
          </a:p>
        </p:txBody>
      </p:sp>
      <p:sp>
        <p:nvSpPr>
          <p:cNvPr id="8" name="TextBox 7"/>
          <p:cNvSpPr txBox="1"/>
          <p:nvPr/>
        </p:nvSpPr>
        <p:spPr>
          <a:xfrm>
            <a:off x="1188720" y="4892040"/>
            <a:ext cx="914400" cy="365760"/>
          </a:xfrm>
          <a:prstGeom prst="rect">
            <a:avLst/>
          </a:prstGeom>
          <a:noFill/>
        </p:spPr>
        <p:txBody>
          <a:bodyPr wrap="square">
            <a:spAutoFit/>
          </a:bodyPr>
          <a:lstStyle/>
          <a:p>
            <a:pPr algn="ctr"/>
            <a:r>
              <a:rPr sz="2400" b="1" i="0">
                <a:solidFill>
                  <a:srgbClr val="3EFFA0"/>
                </a:solidFill>
              </a:rPr>
              <a:t>22</a:t>
            </a:r>
          </a:p>
        </p:txBody>
      </p:sp>
      <p:sp>
        <p:nvSpPr>
          <p:cNvPr id="9" name="TextBox 8"/>
          <p:cNvSpPr txBox="1"/>
          <p:nvPr/>
        </p:nvSpPr>
        <p:spPr>
          <a:xfrm>
            <a:off x="2788920" y="4892040"/>
            <a:ext cx="914400" cy="365760"/>
          </a:xfrm>
          <a:prstGeom prst="rect">
            <a:avLst/>
          </a:prstGeom>
          <a:noFill/>
        </p:spPr>
        <p:txBody>
          <a:bodyPr wrap="square">
            <a:spAutoFit/>
          </a:bodyPr>
          <a:lstStyle/>
          <a:p>
            <a:pPr algn="ctr"/>
            <a:r>
              <a:rPr sz="2400" b="1" i="0">
                <a:solidFill>
                  <a:srgbClr val="60B8FF"/>
                </a:solidFill>
              </a:rPr>
              <a:t>4</a:t>
            </a:r>
          </a:p>
        </p:txBody>
      </p:sp>
      <p:sp>
        <p:nvSpPr>
          <p:cNvPr id="10" name="TextBox 9"/>
          <p:cNvSpPr txBox="1"/>
          <p:nvPr/>
        </p:nvSpPr>
        <p:spPr>
          <a:xfrm>
            <a:off x="4343400" y="4892040"/>
            <a:ext cx="914400" cy="365760"/>
          </a:xfrm>
          <a:prstGeom prst="rect">
            <a:avLst/>
          </a:prstGeom>
          <a:noFill/>
        </p:spPr>
        <p:txBody>
          <a:bodyPr wrap="square">
            <a:spAutoFit/>
          </a:bodyPr>
          <a:lstStyle/>
          <a:p>
            <a:pPr algn="ctr"/>
            <a:r>
              <a:rPr sz="2400" b="1" i="0">
                <a:solidFill>
                  <a:srgbClr val="FFE066"/>
                </a:solidFill>
              </a:rPr>
              <a:t>5</a:t>
            </a:r>
          </a:p>
        </p:txBody>
      </p:sp>
      <p:sp>
        <p:nvSpPr>
          <p:cNvPr id="11" name="TextBox 10"/>
          <p:cNvSpPr txBox="1"/>
          <p:nvPr/>
        </p:nvSpPr>
        <p:spPr>
          <a:xfrm>
            <a:off x="1005840" y="5239512"/>
            <a:ext cx="1280160" cy="182880"/>
          </a:xfrm>
          <a:prstGeom prst="rect">
            <a:avLst/>
          </a:prstGeom>
          <a:noFill/>
        </p:spPr>
        <p:txBody>
          <a:bodyPr wrap="square">
            <a:spAutoFit/>
          </a:bodyPr>
          <a:lstStyle/>
          <a:p>
            <a:pPr algn="ctr"/>
            <a:r>
              <a:rPr sz="900" b="0" i="0">
                <a:solidFill>
                  <a:srgbClr val="888888"/>
                </a:solidFill>
              </a:rPr>
              <a:t>recorded cycles</a:t>
            </a:r>
          </a:p>
        </p:txBody>
      </p:sp>
      <p:sp>
        <p:nvSpPr>
          <p:cNvPr id="12" name="TextBox 11"/>
          <p:cNvSpPr txBox="1"/>
          <p:nvPr/>
        </p:nvSpPr>
        <p:spPr>
          <a:xfrm>
            <a:off x="2468880" y="5239512"/>
            <a:ext cx="1554480" cy="182880"/>
          </a:xfrm>
          <a:prstGeom prst="rect">
            <a:avLst/>
          </a:prstGeom>
          <a:noFill/>
        </p:spPr>
        <p:txBody>
          <a:bodyPr wrap="square">
            <a:spAutoFit/>
          </a:bodyPr>
          <a:lstStyle/>
          <a:p>
            <a:pPr algn="ctr"/>
            <a:r>
              <a:rPr sz="900" b="0" i="0">
                <a:solidFill>
                  <a:srgbClr val="888888"/>
                </a:solidFill>
              </a:rPr>
              <a:t>active defenses</a:t>
            </a:r>
          </a:p>
        </p:txBody>
      </p:sp>
      <p:sp>
        <p:nvSpPr>
          <p:cNvPr id="13" name="TextBox 12"/>
          <p:cNvSpPr txBox="1"/>
          <p:nvPr/>
        </p:nvSpPr>
        <p:spPr>
          <a:xfrm>
            <a:off x="3749040" y="5239512"/>
            <a:ext cx="2103120" cy="182880"/>
          </a:xfrm>
          <a:prstGeom prst="rect">
            <a:avLst/>
          </a:prstGeom>
          <a:noFill/>
        </p:spPr>
        <p:txBody>
          <a:bodyPr wrap="square">
            <a:spAutoFit/>
          </a:bodyPr>
          <a:lstStyle/>
          <a:p>
            <a:pPr algn="ctr"/>
            <a:r>
              <a:rPr sz="800" b="0" i="0">
                <a:solidFill>
                  <a:srgbClr val="888888"/>
                </a:solidFill>
              </a:rPr>
              <a:t>canonical post-switch cycles</a:t>
            </a:r>
          </a:p>
        </p:txBody>
      </p:sp>
      <p:sp>
        <p:nvSpPr>
          <p:cNvPr id="14" name="Rectangle 13"/>
          <p:cNvSpPr/>
          <p:nvPr/>
        </p:nvSpPr>
        <p:spPr>
          <a:xfrm>
            <a:off x="6537960" y="1828800"/>
            <a:ext cx="4800600" cy="1783080"/>
          </a:xfrm>
          <a:prstGeom prst="rect">
            <a:avLst/>
          </a:prstGeom>
          <a:solidFill>
            <a:srgbClr val="0D1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20840" y="1965960"/>
            <a:ext cx="4389120" cy="201168"/>
          </a:xfrm>
          <a:prstGeom prst="rect">
            <a:avLst/>
          </a:prstGeom>
          <a:noFill/>
        </p:spPr>
        <p:txBody>
          <a:bodyPr wrap="square">
            <a:spAutoFit/>
          </a:bodyPr>
          <a:lstStyle/>
          <a:p>
            <a:pPr algn="l"/>
            <a:r>
              <a:rPr sz="900" b="1" i="0">
                <a:solidFill>
                  <a:srgbClr val="60B8FF"/>
                </a:solidFill>
              </a:rPr>
              <a:t>c_dog - STRONGEST SQUARE DEFENSE IN CYCLE 22</a:t>
            </a:r>
          </a:p>
        </p:txBody>
      </p:sp>
      <p:sp>
        <p:nvSpPr>
          <p:cNvPr id="16" name="TextBox 15"/>
          <p:cNvSpPr txBox="1"/>
          <p:nvPr/>
        </p:nvSpPr>
        <p:spPr>
          <a:xfrm>
            <a:off x="6720840" y="2267712"/>
            <a:ext cx="4480560" cy="960120"/>
          </a:xfrm>
          <a:prstGeom prst="rect">
            <a:avLst/>
          </a:prstGeom>
          <a:noFill/>
        </p:spPr>
        <p:txBody>
          <a:bodyPr wrap="square">
            <a:spAutoFit/>
          </a:bodyPr>
          <a:lstStyle/>
          <a:p>
            <a:pPr algn="l"/>
            <a:r>
              <a:rPr sz="1100" b="0" i="0">
                <a:solidFill>
                  <a:srgbClr val="CCCCCC"/>
                </a:solidFill>
              </a:rPr>
              <a:t>A DPC-UNet denoiser that preprocesses inputs before YOLO inference. In cycle 22, square + c_dog improves mAP50 from 0.363 to 0.394. It is not the strongest defense on every attack.</a:t>
            </a:r>
          </a:p>
        </p:txBody>
      </p:sp>
      <p:sp>
        <p:nvSpPr>
          <p:cNvPr id="17" name="TextBox 16"/>
          <p:cNvSpPr txBox="1"/>
          <p:nvPr/>
        </p:nvSpPr>
        <p:spPr>
          <a:xfrm>
            <a:off x="6720840" y="3310128"/>
            <a:ext cx="4480560" cy="274320"/>
          </a:xfrm>
          <a:prstGeom prst="rect">
            <a:avLst/>
          </a:prstGeom>
          <a:noFill/>
        </p:spPr>
        <p:txBody>
          <a:bodyPr wrap="square">
            <a:spAutoFit/>
          </a:bodyPr>
          <a:lstStyle/>
          <a:p>
            <a:pPr algn="l"/>
            <a:r>
              <a:rPr sz="1100" b="0" i="0">
                <a:solidFill>
                  <a:srgbClr val="FFE066"/>
                </a:solidFill>
              </a:rPr>
              <a:t>Current snapshot: square attack 0.363 -&gt; square + c_dog 0.394</a:t>
            </a:r>
          </a:p>
        </p:txBody>
      </p:sp>
      <p:sp>
        <p:nvSpPr>
          <p:cNvPr id="18" name="Rectangle 17"/>
          <p:cNvSpPr/>
          <p:nvPr/>
        </p:nvSpPr>
        <p:spPr>
          <a:xfrm>
            <a:off x="6537960" y="3822191"/>
            <a:ext cx="4800600" cy="1828800"/>
          </a:xfrm>
          <a:prstGeom prst="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3886200"/>
            <a:ext cx="4389120" cy="201168"/>
          </a:xfrm>
          <a:prstGeom prst="rect">
            <a:avLst/>
          </a:prstGeom>
          <a:noFill/>
        </p:spPr>
        <p:txBody>
          <a:bodyPr wrap="square">
            <a:spAutoFit/>
          </a:bodyPr>
          <a:lstStyle/>
          <a:p>
            <a:pPr algn="l"/>
            <a:r>
              <a:rPr sz="900" b="1" i="0">
                <a:solidFill>
                  <a:srgbClr val="60B8FF"/>
                </a:solidFill>
              </a:rPr>
              <a:t>ADVERSARIAL FINETUNING</a:t>
            </a:r>
          </a:p>
        </p:txBody>
      </p:sp>
      <p:sp>
        <p:nvSpPr>
          <p:cNvPr id="20" name="TextBox 19"/>
          <p:cNvSpPr txBox="1"/>
          <p:nvPr/>
        </p:nvSpPr>
        <p:spPr>
          <a:xfrm>
            <a:off x="6720840" y="4187952"/>
            <a:ext cx="4480560" cy="1325880"/>
          </a:xfrm>
          <a:prstGeom prst="rect">
            <a:avLst/>
          </a:prstGeom>
          <a:noFill/>
        </p:spPr>
        <p:txBody>
          <a:bodyPr wrap="square">
            <a:spAutoFit/>
          </a:bodyPr>
          <a:lstStyle/>
          <a:p>
            <a:pPr algn="l"/>
            <a:r>
              <a:rPr sz="1000" b="0" i="0">
                <a:solidFill>
                  <a:srgbClr val="CCCCCC"/>
                </a:solidFill>
              </a:rPr>
              <a:t>- Architecture: DPC-UNet denoiser checkpoint</a:t>
            </a:r>
          </a:p>
          <a:p>
            <a:pPr algn="l"/>
            <a:r>
              <a:rPr sz="1000" b="0" i="0">
                <a:solidFill>
                  <a:srgbClr val="CCCCCC"/>
                </a:solidFill>
              </a:rPr>
              <a:t>- Mix: square x5 oversample + DeepFool + blur + square pairs</a:t>
            </a:r>
          </a:p>
          <a:p>
            <a:pPr algn="l"/>
            <a:r>
              <a:rPr sz="1000" b="0" i="0">
                <a:solidFill>
                  <a:srgbClr val="CCCCCC"/>
                </a:solidFill>
              </a:rPr>
              <a:t>- Gate: deploy only if clean A/B does not regress vs current checkpoint</a:t>
            </a:r>
          </a:p>
          <a:p>
            <a:pPr algn="l"/>
            <a:r>
              <a:rPr sz="1000" b="0" i="0">
                <a:solidFill>
                  <a:srgbClr val="CCCCCC"/>
                </a:solidFill>
              </a:rPr>
              <a:t>- Result: +0.0025 clean mAP50 vs previous checkpoint - gate passed</a:t>
            </a:r>
          </a:p>
          <a:p>
            <a:pPr algn="l"/>
            <a:r>
              <a:rPr sz="1000" b="0" i="0">
                <a:solidFill>
                  <a:srgbClr val="CCCCCC"/>
                </a:solidFill>
              </a:rPr>
              <a:t>- Attack resistance: delta within noise - open problem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822960" y="411480"/>
            <a:ext cx="3657600" cy="256032"/>
          </a:xfrm>
          <a:prstGeom prst="rect">
            <a:avLst/>
          </a:prstGeom>
          <a:noFill/>
        </p:spPr>
        <p:txBody>
          <a:bodyPr wrap="square">
            <a:spAutoFit/>
          </a:bodyPr>
          <a:lstStyle/>
          <a:p>
            <a:pPr algn="l"/>
            <a:r>
              <a:rPr sz="900" b="1" i="0">
                <a:solidFill>
                  <a:srgbClr val="60B8FF"/>
                </a:solidFill>
              </a:rPr>
              <a:t>LIVE DEMONSTRATION</a:t>
            </a:r>
          </a:p>
        </p:txBody>
      </p:sp>
      <p:sp>
        <p:nvSpPr>
          <p:cNvPr id="3" name="TextBox 2"/>
          <p:cNvSpPr txBox="1"/>
          <p:nvPr/>
        </p:nvSpPr>
        <p:spPr>
          <a:xfrm>
            <a:off x="822960" y="1143000"/>
            <a:ext cx="5029200" cy="731520"/>
          </a:xfrm>
          <a:prstGeom prst="rect">
            <a:avLst/>
          </a:prstGeom>
          <a:noFill/>
        </p:spPr>
        <p:txBody>
          <a:bodyPr wrap="square">
            <a:spAutoFit/>
          </a:bodyPr>
          <a:lstStyle/>
          <a:p>
            <a:pPr algn="l"/>
            <a:r>
              <a:rPr sz="4000" b="1" i="0">
                <a:solidFill>
                  <a:srgbClr val="3EFFA0"/>
                </a:solidFill>
              </a:rPr>
              <a:t>Live Demo</a:t>
            </a:r>
          </a:p>
        </p:txBody>
      </p:sp>
      <p:sp>
        <p:nvSpPr>
          <p:cNvPr id="4" name="TextBox 3"/>
          <p:cNvSpPr txBox="1"/>
          <p:nvPr/>
        </p:nvSpPr>
        <p:spPr>
          <a:xfrm>
            <a:off x="822960" y="2011680"/>
            <a:ext cx="5669280" cy="502920"/>
          </a:xfrm>
          <a:prstGeom prst="rect">
            <a:avLst/>
          </a:prstGeom>
          <a:noFill/>
        </p:spPr>
        <p:txBody>
          <a:bodyPr wrap="square">
            <a:spAutoFit/>
          </a:bodyPr>
          <a:lstStyle/>
          <a:p>
            <a:pPr algn="l"/>
            <a:r>
              <a:rPr sz="1400" b="0" i="0">
                <a:solidFill>
                  <a:srgbClr val="CCCCCC"/>
                </a:solidFill>
              </a:rPr>
              <a:t>Split-screen: clean YOLO detections on the left, patch digitally overlaid on the right.</a:t>
            </a:r>
          </a:p>
        </p:txBody>
      </p:sp>
      <p:sp>
        <p:nvSpPr>
          <p:cNvPr id="5" name="Rectangle 4"/>
          <p:cNvSpPr/>
          <p:nvPr/>
        </p:nvSpPr>
        <p:spPr>
          <a:xfrm>
            <a:off x="822960" y="2651760"/>
            <a:ext cx="3840480" cy="18288"/>
          </a:xfrm>
          <a:prstGeom prst="rect">
            <a:avLst/>
          </a:prstGeom>
          <a:solidFill>
            <a:srgbClr val="1E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34640"/>
            <a:ext cx="5669280" cy="868680"/>
          </a:xfrm>
          <a:prstGeom prst="rect">
            <a:avLst/>
          </a:prstGeom>
          <a:noFill/>
        </p:spPr>
        <p:txBody>
          <a:bodyPr wrap="square">
            <a:spAutoFit/>
          </a:bodyPr>
          <a:lstStyle/>
          <a:p>
            <a:pPr algn="l"/>
            <a:r>
              <a:rPr sz="1300" b="0" i="0">
                <a:solidFill>
                  <a:srgbClr val="CCCCCC"/>
                </a:solidFill>
              </a:rPr>
              <a:t>- Patch: 100 x 100 px, YOLOv8n</a:t>
            </a:r>
          </a:p>
          <a:p>
            <a:pPr algn="l"/>
            <a:r>
              <a:rPr sz="1300" b="0" i="0">
                <a:solidFill>
                  <a:srgbClr val="CCCCCC"/>
                </a:solidFill>
              </a:rPr>
              <a:t>- Placed on the torso of the largest detected person</a:t>
            </a:r>
          </a:p>
          <a:p>
            <a:pPr algn="l"/>
            <a:r>
              <a:rPr sz="1300" b="0" i="0">
                <a:solidFill>
                  <a:srgbClr val="CCCCCC"/>
                </a:solidFill>
              </a:rPr>
              <a:t>- Rolling 30-frame suppression average</a:t>
            </a:r>
          </a:p>
        </p:txBody>
      </p:sp>
      <p:sp>
        <p:nvSpPr>
          <p:cNvPr id="7" name="Rectangle 6"/>
          <p:cNvSpPr/>
          <p:nvPr/>
        </p:nvSpPr>
        <p:spPr>
          <a:xfrm>
            <a:off x="822960" y="3822191"/>
            <a:ext cx="3840480" cy="18288"/>
          </a:xfrm>
          <a:prstGeom prst="rect">
            <a:avLst/>
          </a:prstGeom>
          <a:solidFill>
            <a:srgbClr val="1E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4069080"/>
            <a:ext cx="5852160" cy="1463040"/>
          </a:xfrm>
          <a:prstGeom prst="rect">
            <a:avLst/>
          </a:prstGeom>
          <a:solidFill>
            <a:srgbClr val="1A0D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187952"/>
            <a:ext cx="5486400" cy="201168"/>
          </a:xfrm>
          <a:prstGeom prst="rect">
            <a:avLst/>
          </a:prstGeom>
          <a:noFill/>
        </p:spPr>
        <p:txBody>
          <a:bodyPr wrap="square">
            <a:spAutoFit/>
          </a:bodyPr>
          <a:lstStyle/>
          <a:p>
            <a:pPr algn="l"/>
            <a:r>
              <a:rPr sz="900" b="1" i="0">
                <a:solidFill>
                  <a:srgbClr val="60B8FF"/>
                </a:solidFill>
              </a:rPr>
              <a:t>PHYSICAL PRINT</a:t>
            </a:r>
          </a:p>
        </p:txBody>
      </p:sp>
      <p:sp>
        <p:nvSpPr>
          <p:cNvPr id="10" name="TextBox 9"/>
          <p:cNvSpPr txBox="1"/>
          <p:nvPr/>
        </p:nvSpPr>
        <p:spPr>
          <a:xfrm>
            <a:off x="1005840" y="4462272"/>
            <a:ext cx="5486400" cy="822960"/>
          </a:xfrm>
          <a:prstGeom prst="rect">
            <a:avLst/>
          </a:prstGeom>
          <a:noFill/>
        </p:spPr>
        <p:txBody>
          <a:bodyPr wrap="square">
            <a:spAutoFit/>
          </a:bodyPr>
          <a:lstStyle/>
          <a:p>
            <a:pPr algn="l"/>
            <a:r>
              <a:rPr sz="1200" b="0" i="0">
                <a:solidFill>
                  <a:srgbClr val="FFE066"/>
                </a:solidFill>
              </a:rPr>
              <a:t>Patch exported at 300 DPI, 8 x 8 inches.</a:t>
            </a:r>
          </a:p>
          <a:p>
            <a:pPr algn="l"/>
            <a:r>
              <a:rPr sz="1200" b="0" i="0">
                <a:solidFill>
                  <a:srgbClr val="CCCCCC"/>
                </a:solidFill>
              </a:rPr>
              <a:t>Physical demos underperform digital because printer color shift, lighting, and view angle perturb the patch.</a:t>
            </a:r>
          </a:p>
          <a:p>
            <a:pPr algn="l"/>
            <a:r>
              <a:rPr sz="1200" b="0" i="0">
                <a:solidFill>
                  <a:srgbClr val="CCCCCC"/>
                </a:solidFill>
              </a:rPr>
              <a:t>NPS loss during training partially compensates.</a:t>
            </a:r>
          </a:p>
        </p:txBody>
      </p:sp>
      <p:pic>
        <p:nvPicPr>
          <p:cNvPr id="11" name="Picture 10" descr="patch.png"/>
          <p:cNvPicPr>
            <a:picLocks noChangeAspect="1"/>
          </p:cNvPicPr>
          <p:nvPr/>
        </p:nvPicPr>
        <p:blipFill>
          <a:blip r:embed="rId2"/>
          <a:stretch>
            <a:fillRect/>
          </a:stretch>
        </p:blipFill>
        <p:spPr>
          <a:xfrm>
            <a:off x="7818120" y="1463040"/>
            <a:ext cx="2743200" cy="2743200"/>
          </a:xfrm>
          <a:prstGeom prst="rect">
            <a:avLst/>
          </a:prstGeom>
        </p:spPr>
      </p:pic>
      <p:sp>
        <p:nvSpPr>
          <p:cNvPr id="12" name="Rectangle 11"/>
          <p:cNvSpPr/>
          <p:nvPr/>
        </p:nvSpPr>
        <p:spPr>
          <a:xfrm>
            <a:off x="7863840" y="4434840"/>
            <a:ext cx="2651760" cy="640080"/>
          </a:xfrm>
          <a:prstGeom prst="rect">
            <a:avLst/>
          </a:prstGeom>
          <a:solidFill>
            <a:srgbClr val="1212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0" y="4572000"/>
            <a:ext cx="2468880" cy="365760"/>
          </a:xfrm>
          <a:prstGeom prst="rect">
            <a:avLst/>
          </a:prstGeom>
          <a:noFill/>
        </p:spPr>
        <p:txBody>
          <a:bodyPr wrap="square">
            <a:spAutoFit/>
          </a:bodyPr>
          <a:lstStyle/>
          <a:p>
            <a:pPr algn="ctr"/>
            <a:r>
              <a:rPr sz="1000" b="0" i="0">
                <a:solidFill>
                  <a:srgbClr val="888888"/>
                </a:solidFill>
              </a:rPr>
              <a:t>YOLOv8n patch - 90% suppression
100 x 100 px - shown 2x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F"/>
        </a:solidFill>
        <a:effectLst/>
      </p:bgPr>
    </p:bg>
    <p:spTree>
      <p:nvGrpSpPr>
        <p:cNvPr id="1" name=""/>
        <p:cNvGrpSpPr/>
        <p:nvPr/>
      </p:nvGrpSpPr>
      <p:grpSpPr/>
      <p:sp>
        <p:nvSpPr>
          <p:cNvPr id="2" name="TextBox 1"/>
          <p:cNvSpPr txBox="1"/>
          <p:nvPr/>
        </p:nvSpPr>
        <p:spPr>
          <a:xfrm>
            <a:off x="822960" y="411480"/>
            <a:ext cx="3657600" cy="256032"/>
          </a:xfrm>
          <a:prstGeom prst="rect">
            <a:avLst/>
          </a:prstGeom>
          <a:noFill/>
        </p:spPr>
        <p:txBody>
          <a:bodyPr wrap="square">
            <a:spAutoFit/>
          </a:bodyPr>
          <a:lstStyle/>
          <a:p>
            <a:pPr algn="l"/>
            <a:r>
              <a:rPr sz="900" b="1" i="0">
                <a:solidFill>
                  <a:srgbClr val="60B8FF"/>
                </a:solidFill>
              </a:rPr>
              <a:t>CONCLUSIONS</a:t>
            </a:r>
          </a:p>
        </p:txBody>
      </p:sp>
      <p:sp>
        <p:nvSpPr>
          <p:cNvPr id="3" name="TextBox 2"/>
          <p:cNvSpPr txBox="1"/>
          <p:nvPr/>
        </p:nvSpPr>
        <p:spPr>
          <a:xfrm>
            <a:off x="822960" y="777240"/>
            <a:ext cx="10241280" cy="1463040"/>
          </a:xfrm>
          <a:prstGeom prst="rect">
            <a:avLst/>
          </a:prstGeom>
          <a:noFill/>
        </p:spPr>
        <p:txBody>
          <a:bodyPr wrap="square">
            <a:spAutoFit/>
          </a:bodyPr>
          <a:lstStyle/>
          <a:p>
            <a:pPr algn="l"/>
            <a:r>
              <a:rPr sz="3800" b="1" i="0">
                <a:solidFill>
                  <a:srgbClr val="E8E8F0"/>
                </a:solidFill>
              </a:rPr>
              <a:t>What We</a:t>
            </a:r>
          </a:p>
          <a:p>
            <a:pPr algn="l"/>
            <a:r>
              <a:rPr sz="3800" b="1" i="0">
                <a:solidFill>
                  <a:srgbClr val="3EFFA0"/>
                </a:solidFill>
              </a:rPr>
              <a:t>Learned</a:t>
            </a:r>
          </a:p>
        </p:txBody>
      </p:sp>
      <p:sp>
        <p:nvSpPr>
          <p:cNvPr id="4" name="Rectangle 3"/>
          <p:cNvSpPr/>
          <p:nvPr/>
        </p:nvSpPr>
        <p:spPr>
          <a:xfrm>
            <a:off x="822960" y="2148840"/>
            <a:ext cx="3291840" cy="2468880"/>
          </a:xfrm>
          <a:prstGeom prst="rect">
            <a:avLst/>
          </a:prstGeom>
          <a:solidFill>
            <a:srgbClr val="0D1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313432"/>
            <a:ext cx="3291840" cy="201168"/>
          </a:xfrm>
          <a:prstGeom prst="rect">
            <a:avLst/>
          </a:prstGeom>
          <a:noFill/>
        </p:spPr>
        <p:txBody>
          <a:bodyPr wrap="square">
            <a:spAutoFit/>
          </a:bodyPr>
          <a:lstStyle/>
          <a:p>
            <a:pPr algn="l"/>
            <a:r>
              <a:rPr sz="900" b="1" i="0">
                <a:solidFill>
                  <a:srgbClr val="60B8FF"/>
                </a:solidFill>
              </a:rPr>
              <a:t>FRAMEWORK CONTRIBUTION</a:t>
            </a:r>
          </a:p>
        </p:txBody>
      </p:sp>
      <p:sp>
        <p:nvSpPr>
          <p:cNvPr id="6" name="TextBox 5"/>
          <p:cNvSpPr txBox="1"/>
          <p:nvPr/>
        </p:nvSpPr>
        <p:spPr>
          <a:xfrm>
            <a:off x="1005840" y="2651760"/>
            <a:ext cx="3017520" cy="1737360"/>
          </a:xfrm>
          <a:prstGeom prst="rect">
            <a:avLst/>
          </a:prstGeom>
          <a:noFill/>
        </p:spPr>
        <p:txBody>
          <a:bodyPr wrap="square">
            <a:spAutoFit/>
          </a:bodyPr>
          <a:lstStyle/>
          <a:p>
            <a:pPr algn="l"/>
            <a:r>
              <a:rPr sz="1200" b="0" i="0">
                <a:solidFill>
                  <a:srgbClr val="CCCCCC"/>
                </a:solidFill>
              </a:rPr>
              <a:t>Two complementary repos, not one merged pipeline: Adversarial_Patch reports cross-generation patch training and transfer on YOLOv8n, YOLO11n, and YOLO26n; YOLO-Bad-Triangle reports 22 recorded defense-cycle artifacts, with current canonical trends taken from the post-switch series.</a:t>
            </a:r>
          </a:p>
        </p:txBody>
      </p:sp>
      <p:sp>
        <p:nvSpPr>
          <p:cNvPr id="7" name="Rectangle 6"/>
          <p:cNvSpPr/>
          <p:nvPr/>
        </p:nvSpPr>
        <p:spPr>
          <a:xfrm>
            <a:off x="4480560" y="2148840"/>
            <a:ext cx="3291840" cy="2468880"/>
          </a:xfrm>
          <a:prstGeom prst="rect">
            <a:avLst/>
          </a:prstGeom>
          <a:solidFill>
            <a:srgbClr val="0D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313432"/>
            <a:ext cx="3291840" cy="201168"/>
          </a:xfrm>
          <a:prstGeom prst="rect">
            <a:avLst/>
          </a:prstGeom>
          <a:noFill/>
        </p:spPr>
        <p:txBody>
          <a:bodyPr wrap="square">
            <a:spAutoFit/>
          </a:bodyPr>
          <a:lstStyle/>
          <a:p>
            <a:pPr algn="l"/>
            <a:r>
              <a:rPr sz="900" b="1" i="0">
                <a:solidFill>
                  <a:srgbClr val="60B8FF"/>
                </a:solidFill>
              </a:rPr>
              <a:t>ARCHITECTURE MATTERS</a:t>
            </a:r>
          </a:p>
        </p:txBody>
      </p:sp>
      <p:sp>
        <p:nvSpPr>
          <p:cNvPr id="9" name="TextBox 8"/>
          <p:cNvSpPr txBox="1"/>
          <p:nvPr/>
        </p:nvSpPr>
        <p:spPr>
          <a:xfrm>
            <a:off x="4663440" y="2651760"/>
            <a:ext cx="3017520" cy="1737360"/>
          </a:xfrm>
          <a:prstGeom prst="rect">
            <a:avLst/>
          </a:prstGeom>
          <a:noFill/>
        </p:spPr>
        <p:txBody>
          <a:bodyPr wrap="square">
            <a:spAutoFit/>
          </a:bodyPr>
          <a:lstStyle/>
          <a:p>
            <a:pPr algn="l"/>
            <a:r>
              <a:rPr sz="1200" b="0" i="0">
                <a:solidFill>
                  <a:srgbClr val="CCCCCC"/>
                </a:solidFill>
              </a:rPr>
              <a:t>YOLO26n's end-to-end matching breaks the usual assumption that optimizing the attack objective will directly reduce detections.</a:t>
            </a:r>
          </a:p>
        </p:txBody>
      </p:sp>
      <p:sp>
        <p:nvSpPr>
          <p:cNvPr id="10" name="Rectangle 9"/>
          <p:cNvSpPr/>
          <p:nvPr/>
        </p:nvSpPr>
        <p:spPr>
          <a:xfrm>
            <a:off x="8138160" y="2148840"/>
            <a:ext cx="3291840" cy="2468880"/>
          </a:xfrm>
          <a:prstGeom prst="rect">
            <a:avLst/>
          </a:prstGeom>
          <a:solidFill>
            <a:srgbClr val="1A18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2313432"/>
            <a:ext cx="3291840" cy="201168"/>
          </a:xfrm>
          <a:prstGeom prst="rect">
            <a:avLst/>
          </a:prstGeom>
          <a:noFill/>
        </p:spPr>
        <p:txBody>
          <a:bodyPr wrap="square">
            <a:spAutoFit/>
          </a:bodyPr>
          <a:lstStyle/>
          <a:p>
            <a:pPr algn="l"/>
            <a:r>
              <a:rPr sz="900" b="1" i="0">
                <a:solidFill>
                  <a:srgbClr val="60B8FF"/>
                </a:solidFill>
              </a:rPr>
              <a:t>OPEN QUESTIONS</a:t>
            </a:r>
          </a:p>
        </p:txBody>
      </p:sp>
      <p:sp>
        <p:nvSpPr>
          <p:cNvPr id="12" name="TextBox 11"/>
          <p:cNvSpPr txBox="1"/>
          <p:nvPr/>
        </p:nvSpPr>
        <p:spPr>
          <a:xfrm>
            <a:off x="8321040" y="2651760"/>
            <a:ext cx="3017520" cy="1737360"/>
          </a:xfrm>
          <a:prstGeom prst="rect">
            <a:avLst/>
          </a:prstGeom>
          <a:noFill/>
        </p:spPr>
        <p:txBody>
          <a:bodyPr wrap="square">
            <a:spAutoFit/>
          </a:bodyPr>
          <a:lstStyle/>
          <a:p>
            <a:pPr algn="l"/>
            <a:r>
              <a:rPr sz="1200" b="0" i="0">
                <a:solidFill>
                  <a:srgbClr val="CCCCCC"/>
                </a:solidFill>
              </a:rPr>
              <a:t>Does the NMS-free shift require a new attack class, or can DETR-style matching-aware attacks port into YOLO26n? Physical robustness at scale remains open.</a:t>
            </a:r>
          </a:p>
        </p:txBody>
      </p:sp>
      <p:sp>
        <p:nvSpPr>
          <p:cNvPr id="13" name="Rectangle 12"/>
          <p:cNvSpPr/>
          <p:nvPr/>
        </p:nvSpPr>
        <p:spPr>
          <a:xfrm>
            <a:off x="822960" y="5166360"/>
            <a:ext cx="10515600" cy="18288"/>
          </a:xfrm>
          <a:prstGeom prst="rect">
            <a:avLst/>
          </a:prstGeom>
          <a:solidFill>
            <a:srgbClr val="1E1E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440680"/>
            <a:ext cx="10515600" cy="548640"/>
          </a:xfrm>
          <a:prstGeom prst="rect">
            <a:avLst/>
          </a:prstGeom>
          <a:noFill/>
        </p:spPr>
        <p:txBody>
          <a:bodyPr wrap="square">
            <a:spAutoFit/>
          </a:bodyPr>
          <a:lstStyle/>
          <a:p>
            <a:pPr algn="l"/>
            <a:r>
              <a:rPr sz="1100" b="0" i="0">
                <a:solidFill>
                  <a:srgbClr val="60B8FF"/>
                </a:solidFill>
              </a:rPr>
              <a:t>Attack repo -&gt; github.com/Cmaddock99/Patch_Yolo
Defense repo -&gt; github.com/Cmaddock99/YOLO-Bad-Triangle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