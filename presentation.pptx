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F"/>
        </a:solidFill>
        <a:effectLst/>
      </p:bgPr>
    </p:bg>
    <p:spTree>
      <p:nvGrpSpPr>
        <p:cNvPr id="1" name=""/>
        <p:cNvGrpSpPr/>
        <p:nvPr/>
      </p:nvGrpSpPr>
      <p:grpSpPr/>
      <p:sp>
        <p:nvSpPr>
          <p:cNvPr id="2" name="TextBox 1"/>
          <p:cNvSpPr txBox="1"/>
          <p:nvPr/>
        </p:nvSpPr>
        <p:spPr>
          <a:xfrm>
            <a:off x="822960" y="640080"/>
            <a:ext cx="3657600" cy="256032"/>
          </a:xfrm>
          <a:prstGeom prst="rect">
            <a:avLst/>
          </a:prstGeom>
          <a:noFill/>
        </p:spPr>
        <p:txBody>
          <a:bodyPr wrap="square">
            <a:spAutoFit/>
          </a:bodyPr>
          <a:lstStyle/>
          <a:p>
            <a:pPr algn="l"/>
            <a:r>
              <a:rPr sz="900" b="1" i="0">
                <a:solidFill>
                  <a:srgbClr val="60B8FF"/>
                </a:solidFill>
              </a:rPr>
              <a:t>CAPSTONE RESEARCH</a:t>
            </a:r>
          </a:p>
        </p:txBody>
      </p:sp>
      <p:sp>
        <p:nvSpPr>
          <p:cNvPr id="3" name="TextBox 2"/>
          <p:cNvSpPr txBox="1"/>
          <p:nvPr/>
        </p:nvSpPr>
        <p:spPr>
          <a:xfrm>
            <a:off x="822960" y="1097280"/>
            <a:ext cx="10241280" cy="1463040"/>
          </a:xfrm>
          <a:prstGeom prst="rect">
            <a:avLst/>
          </a:prstGeom>
          <a:noFill/>
        </p:spPr>
        <p:txBody>
          <a:bodyPr wrap="square">
            <a:spAutoFit/>
          </a:bodyPr>
          <a:lstStyle/>
          <a:p>
            <a:pPr algn="l"/>
            <a:r>
              <a:rPr sz="4200" b="1" i="0">
                <a:solidFill>
                  <a:srgbClr val="E8E8F0"/>
                </a:solidFill>
              </a:rPr>
              <a:t>Adversarial Robustness</a:t>
            </a:r>
          </a:p>
          <a:p>
            <a:pPr algn="l"/>
            <a:r>
              <a:rPr sz="4200" b="1" i="0">
                <a:solidFill>
                  <a:srgbClr val="3EFFA0"/>
                </a:solidFill>
              </a:rPr>
              <a:t>Framework</a:t>
            </a:r>
          </a:p>
        </p:txBody>
      </p:sp>
      <p:sp>
        <p:nvSpPr>
          <p:cNvPr id="4" name="TextBox 3"/>
          <p:cNvSpPr txBox="1"/>
          <p:nvPr/>
        </p:nvSpPr>
        <p:spPr>
          <a:xfrm>
            <a:off x="822960" y="2788920"/>
            <a:ext cx="8778240" cy="731520"/>
          </a:xfrm>
          <a:prstGeom prst="rect">
            <a:avLst/>
          </a:prstGeom>
          <a:noFill/>
        </p:spPr>
        <p:txBody>
          <a:bodyPr wrap="square">
            <a:spAutoFit/>
          </a:bodyPr>
          <a:lstStyle/>
          <a:p>
            <a:pPr algn="l"/>
            <a:r>
              <a:rPr sz="1600" b="0" i="0">
                <a:solidFill>
                  <a:srgbClr val="888888"/>
                </a:solidFill>
              </a:rPr>
              <a:t>A two-track pipeline for systematic attack and defense evaluation across YOLO model generations</a:t>
            </a:r>
          </a:p>
        </p:txBody>
      </p:sp>
      <p:sp>
        <p:nvSpPr>
          <p:cNvPr id="5" name="Rectangle 4"/>
          <p:cNvSpPr/>
          <p:nvPr/>
        </p:nvSpPr>
        <p:spPr>
          <a:xfrm>
            <a:off x="822960" y="3657600"/>
            <a:ext cx="1097280" cy="18288"/>
          </a:xfrm>
          <a:prstGeom prst="rect">
            <a:avLst/>
          </a:prstGeom>
          <a:solidFill>
            <a:srgbClr val="3EF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886200"/>
            <a:ext cx="2743200" cy="365760"/>
          </a:xfrm>
          <a:prstGeom prst="rect">
            <a:avLst/>
          </a:prstGeom>
          <a:noFill/>
        </p:spPr>
        <p:txBody>
          <a:bodyPr wrap="square">
            <a:spAutoFit/>
          </a:bodyPr>
          <a:lstStyle/>
          <a:p>
            <a:pPr algn="l"/>
            <a:r>
              <a:rPr sz="1300" b="0" i="0">
                <a:solidFill>
                  <a:srgbClr val="444444"/>
                </a:solidFill>
              </a:rPr>
              <a:t>April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F"/>
        </a:solidFill>
        <a:effectLst/>
      </p:bgPr>
    </p:bg>
    <p:spTree>
      <p:nvGrpSpPr>
        <p:cNvPr id="1" name=""/>
        <p:cNvGrpSpPr/>
        <p:nvPr/>
      </p:nvGrpSpPr>
      <p:grpSpPr/>
      <p:sp>
        <p:nvSpPr>
          <p:cNvPr id="2" name="TextBox 1"/>
          <p:cNvSpPr txBox="1"/>
          <p:nvPr/>
        </p:nvSpPr>
        <p:spPr>
          <a:xfrm>
            <a:off x="822960" y="411480"/>
            <a:ext cx="3657600" cy="256032"/>
          </a:xfrm>
          <a:prstGeom prst="rect">
            <a:avLst/>
          </a:prstGeom>
          <a:noFill/>
        </p:spPr>
        <p:txBody>
          <a:bodyPr wrap="square">
            <a:spAutoFit/>
          </a:bodyPr>
          <a:lstStyle/>
          <a:p>
            <a:pPr algn="l"/>
            <a:r>
              <a:rPr sz="900" b="1" i="0">
                <a:solidFill>
                  <a:srgbClr val="60B8FF"/>
                </a:solidFill>
              </a:rPr>
              <a:t>FRAMEWORK OVERVIEW</a:t>
            </a:r>
          </a:p>
        </p:txBody>
      </p:sp>
      <p:sp>
        <p:nvSpPr>
          <p:cNvPr id="3" name="TextBox 2"/>
          <p:cNvSpPr txBox="1"/>
          <p:nvPr/>
        </p:nvSpPr>
        <p:spPr>
          <a:xfrm>
            <a:off x="822960" y="777240"/>
            <a:ext cx="10241280" cy="1463040"/>
          </a:xfrm>
          <a:prstGeom prst="rect">
            <a:avLst/>
          </a:prstGeom>
          <a:noFill/>
        </p:spPr>
        <p:txBody>
          <a:bodyPr wrap="square">
            <a:spAutoFit/>
          </a:bodyPr>
          <a:lstStyle/>
          <a:p>
            <a:pPr algn="l"/>
            <a:r>
              <a:rPr sz="3800" b="1" i="0">
                <a:solidFill>
                  <a:srgbClr val="E8E8F0"/>
                </a:solidFill>
              </a:rPr>
              <a:t>Two-Track</a:t>
            </a:r>
          </a:p>
          <a:p>
            <a:pPr algn="l"/>
            <a:r>
              <a:rPr sz="3800" b="1" i="0">
                <a:solidFill>
                  <a:srgbClr val="60B8FF"/>
                </a:solidFill>
              </a:rPr>
              <a:t>Pipeline</a:t>
            </a:r>
          </a:p>
        </p:txBody>
      </p:sp>
      <p:sp>
        <p:nvSpPr>
          <p:cNvPr id="4" name="Rectangle 3"/>
          <p:cNvSpPr/>
          <p:nvPr/>
        </p:nvSpPr>
        <p:spPr>
          <a:xfrm>
            <a:off x="822960" y="1828800"/>
            <a:ext cx="5212080" cy="2834640"/>
          </a:xfrm>
          <a:prstGeom prst="rect">
            <a:avLst/>
          </a:prstGeom>
          <a:solidFill>
            <a:srgbClr val="0D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75104"/>
            <a:ext cx="5212080" cy="201168"/>
          </a:xfrm>
          <a:prstGeom prst="rect">
            <a:avLst/>
          </a:prstGeom>
          <a:noFill/>
        </p:spPr>
        <p:txBody>
          <a:bodyPr wrap="square">
            <a:spAutoFit/>
          </a:bodyPr>
          <a:lstStyle/>
          <a:p>
            <a:pPr algn="l"/>
            <a:r>
              <a:rPr sz="900" b="1" i="0">
                <a:solidFill>
                  <a:srgbClr val="60B8FF"/>
                </a:solidFill>
              </a:rPr>
              <a:t>ATTACK TRACK    Adversarial_Patch</a:t>
            </a:r>
          </a:p>
        </p:txBody>
      </p:sp>
      <p:sp>
        <p:nvSpPr>
          <p:cNvPr id="6" name="Rectangle 5"/>
          <p:cNvSpPr/>
          <p:nvPr/>
        </p:nvSpPr>
        <p:spPr>
          <a:xfrm>
            <a:off x="1005840" y="2267712"/>
            <a:ext cx="4846320" cy="18288"/>
          </a:xfrm>
          <a:prstGeom prst="rect">
            <a:avLst/>
          </a:prstGeom>
          <a:solidFill>
            <a:srgbClr val="1E1E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95728"/>
            <a:ext cx="4892040" cy="2103120"/>
          </a:xfrm>
          <a:prstGeom prst="rect">
            <a:avLst/>
          </a:prstGeom>
          <a:noFill/>
        </p:spPr>
        <p:txBody>
          <a:bodyPr wrap="square">
            <a:spAutoFit/>
          </a:bodyPr>
          <a:lstStyle/>
          <a:p>
            <a:pPr algn="l"/>
            <a:r>
              <a:rPr sz="1200" b="0" i="0">
                <a:solidFill>
                  <a:srgbClr val="CCCCCC"/>
                </a:solidFill>
              </a:rPr>
              <a:t>- Gradient-based patch training against any Ultralytics YOLO model</a:t>
            </a:r>
          </a:p>
          <a:p>
            <a:pPr algn="l"/>
            <a:r>
              <a:rPr sz="1200" b="0" i="0">
                <a:solidFill>
                  <a:srgbClr val="CCCCCC"/>
                </a:solidFill>
              </a:rPr>
              <a:t>- Multi-model and joint ensemble attack modes</a:t>
            </a:r>
          </a:p>
          <a:p>
            <a:pPr algn="l"/>
            <a:r>
              <a:rPr sz="1200" b="0" i="0">
                <a:solidFill>
                  <a:srgbClr val="CCCCCC"/>
                </a:solidFill>
              </a:rPr>
              <a:t>- Cross-architecture transfer evaluation</a:t>
            </a:r>
          </a:p>
          <a:p>
            <a:pPr algn="l"/>
            <a:r>
              <a:rPr sz="1200" b="0" i="0">
                <a:solidFill>
                  <a:srgbClr val="CCCCCC"/>
                </a:solidFill>
              </a:rPr>
              <a:t>- Defense robustness benchmarking (JPEG, blur, crop-resize)</a:t>
            </a:r>
          </a:p>
          <a:p>
            <a:pPr algn="l"/>
            <a:r>
              <a:rPr sz="1200" b="0" i="0">
                <a:solidFill>
                  <a:srgbClr val="CCCCCC"/>
                </a:solidFill>
              </a:rPr>
              <a:t>- Live demo plus 300 DPI physical print export</a:t>
            </a:r>
          </a:p>
        </p:txBody>
      </p:sp>
      <p:sp>
        <p:nvSpPr>
          <p:cNvPr id="8" name="Rectangle 7"/>
          <p:cNvSpPr/>
          <p:nvPr/>
        </p:nvSpPr>
        <p:spPr>
          <a:xfrm>
            <a:off x="6446520" y="1828800"/>
            <a:ext cx="5212080" cy="2834640"/>
          </a:xfrm>
          <a:prstGeom prst="rect">
            <a:avLst/>
          </a:prstGeom>
          <a:solidFill>
            <a:srgbClr val="0D1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1975104"/>
            <a:ext cx="5212080" cy="201168"/>
          </a:xfrm>
          <a:prstGeom prst="rect">
            <a:avLst/>
          </a:prstGeom>
          <a:noFill/>
        </p:spPr>
        <p:txBody>
          <a:bodyPr wrap="square">
            <a:spAutoFit/>
          </a:bodyPr>
          <a:lstStyle/>
          <a:p>
            <a:pPr algn="l"/>
            <a:r>
              <a:rPr sz="900" b="1" i="0">
                <a:solidFill>
                  <a:srgbClr val="60B8FF"/>
                </a:solidFill>
              </a:rPr>
              <a:t>DEFENSE TRACK    YOLO-Bad-Triangle</a:t>
            </a:r>
          </a:p>
        </p:txBody>
      </p:sp>
      <p:sp>
        <p:nvSpPr>
          <p:cNvPr id="10" name="Rectangle 9"/>
          <p:cNvSpPr/>
          <p:nvPr/>
        </p:nvSpPr>
        <p:spPr>
          <a:xfrm>
            <a:off x="6629400" y="2267712"/>
            <a:ext cx="4846320" cy="18288"/>
          </a:xfrm>
          <a:prstGeom prst="rect">
            <a:avLst/>
          </a:prstGeom>
          <a:solidFill>
            <a:srgbClr val="1E1E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2395728"/>
            <a:ext cx="4892040" cy="2103120"/>
          </a:xfrm>
          <a:prstGeom prst="rect">
            <a:avLst/>
          </a:prstGeom>
          <a:noFill/>
        </p:spPr>
        <p:txBody>
          <a:bodyPr wrap="square">
            <a:spAutoFit/>
          </a:bodyPr>
          <a:lstStyle/>
          <a:p>
            <a:pPr algn="l"/>
            <a:r>
              <a:rPr sz="1200" b="0" i="0">
                <a:solidFill>
                  <a:srgbClr val="CCCCCC"/>
                </a:solidFill>
              </a:rPr>
              <a:t>- Plugin-based attack and defense registry</a:t>
            </a:r>
          </a:p>
          <a:p>
            <a:pPr algn="l"/>
            <a:r>
              <a:rPr sz="1200" b="0" i="0">
                <a:solidFill>
                  <a:srgbClr val="CCCCCC"/>
                </a:solidFill>
              </a:rPr>
              <a:t>- 22 automated hyperparameter-optimization cycles</a:t>
            </a:r>
          </a:p>
          <a:p>
            <a:pPr algn="l"/>
            <a:r>
              <a:rPr sz="1200" b="0" i="0">
                <a:solidFill>
                  <a:srgbClr val="CCCCCC"/>
                </a:solidFill>
              </a:rPr>
              <a:t>- Adversarial finetuning with a clean A/B deployment gate</a:t>
            </a:r>
          </a:p>
          <a:p>
            <a:pPr algn="l"/>
            <a:r>
              <a:rPr sz="1200" b="0" i="0">
                <a:solidFill>
                  <a:srgbClr val="CCCCCC"/>
                </a:solidFill>
              </a:rPr>
              <a:t>- Schema-enforced artifact contracts and provenance tracking</a:t>
            </a:r>
          </a:p>
          <a:p>
            <a:pPr algn="l"/>
            <a:r>
              <a:rPr sz="1200" b="0" i="0">
                <a:solidFill>
                  <a:srgbClr val="CCCCCC"/>
                </a:solidFill>
              </a:rPr>
              <a:t>- Automated reporting pipeline</a:t>
            </a:r>
          </a:p>
        </p:txBody>
      </p:sp>
      <p:sp>
        <p:nvSpPr>
          <p:cNvPr id="12" name="TextBox 11"/>
          <p:cNvSpPr txBox="1"/>
          <p:nvPr/>
        </p:nvSpPr>
        <p:spPr>
          <a:xfrm>
            <a:off x="822960" y="4983480"/>
            <a:ext cx="10424160" cy="548640"/>
          </a:xfrm>
          <a:prstGeom prst="rect">
            <a:avLst/>
          </a:prstGeom>
          <a:noFill/>
        </p:spPr>
        <p:txBody>
          <a:bodyPr wrap="square">
            <a:spAutoFit/>
          </a:bodyPr>
          <a:lstStyle/>
          <a:p>
            <a:pPr algn="l"/>
            <a:r>
              <a:rPr sz="1300" b="0" i="0">
                <a:solidFill>
                  <a:srgbClr val="888888"/>
                </a:solidFill>
              </a:rPr>
              <a:t>Both tracks share a common image set and produce structured artifacts. Findings from each cycle inform the next.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F"/>
        </a:solidFill>
        <a:effectLst/>
      </p:bgPr>
    </p:bg>
    <p:spTree>
      <p:nvGrpSpPr>
        <p:cNvPr id="1" name=""/>
        <p:cNvGrpSpPr/>
        <p:nvPr/>
      </p:nvGrpSpPr>
      <p:grpSpPr/>
      <p:sp>
        <p:nvSpPr>
          <p:cNvPr id="2" name="TextBox 1"/>
          <p:cNvSpPr txBox="1"/>
          <p:nvPr/>
        </p:nvSpPr>
        <p:spPr>
          <a:xfrm>
            <a:off x="822960" y="411480"/>
            <a:ext cx="3657600" cy="256032"/>
          </a:xfrm>
          <a:prstGeom prst="rect">
            <a:avLst/>
          </a:prstGeom>
          <a:noFill/>
        </p:spPr>
        <p:txBody>
          <a:bodyPr wrap="square">
            <a:spAutoFit/>
          </a:bodyPr>
          <a:lstStyle/>
          <a:p>
            <a:pPr algn="l"/>
            <a:r>
              <a:rPr sz="900" b="1" i="0">
                <a:solidFill>
                  <a:srgbClr val="60B8FF"/>
                </a:solidFill>
              </a:rPr>
              <a:t>ATTACK TRACK - FINDINGS</a:t>
            </a:r>
          </a:p>
        </p:txBody>
      </p:sp>
      <p:sp>
        <p:nvSpPr>
          <p:cNvPr id="3" name="TextBox 2"/>
          <p:cNvSpPr txBox="1"/>
          <p:nvPr/>
        </p:nvSpPr>
        <p:spPr>
          <a:xfrm>
            <a:off x="822960" y="777240"/>
            <a:ext cx="10241280" cy="1463040"/>
          </a:xfrm>
          <a:prstGeom prst="rect">
            <a:avLst/>
          </a:prstGeom>
          <a:noFill/>
        </p:spPr>
        <p:txBody>
          <a:bodyPr wrap="square">
            <a:spAutoFit/>
          </a:bodyPr>
          <a:lstStyle/>
          <a:p>
            <a:pPr algn="l"/>
            <a:r>
              <a:rPr sz="3800" b="1" i="0">
                <a:solidFill>
                  <a:srgbClr val="E8E8F0"/>
                </a:solidFill>
              </a:rPr>
              <a:t>Detection</a:t>
            </a:r>
          </a:p>
          <a:p>
            <a:pPr algn="l"/>
            <a:r>
              <a:rPr sz="3800" b="1" i="0">
                <a:solidFill>
                  <a:srgbClr val="3EFFA0"/>
                </a:solidFill>
              </a:rPr>
              <a:t>Suppression</a:t>
            </a:r>
          </a:p>
        </p:txBody>
      </p:sp>
      <p:sp>
        <p:nvSpPr>
          <p:cNvPr id="4" name="Rectangle 3"/>
          <p:cNvSpPr/>
          <p:nvPr/>
        </p:nvSpPr>
        <p:spPr>
          <a:xfrm>
            <a:off x="822960" y="2057400"/>
            <a:ext cx="3291840" cy="2926080"/>
          </a:xfrm>
          <a:prstGeom prst="rect">
            <a:avLst/>
          </a:prstGeom>
          <a:solidFill>
            <a:srgbClr val="0D1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313432"/>
            <a:ext cx="3291840" cy="822960"/>
          </a:xfrm>
          <a:prstGeom prst="rect">
            <a:avLst/>
          </a:prstGeom>
          <a:noFill/>
        </p:spPr>
        <p:txBody>
          <a:bodyPr wrap="square">
            <a:spAutoFit/>
          </a:bodyPr>
          <a:lstStyle/>
          <a:p>
            <a:pPr algn="ctr"/>
            <a:r>
              <a:rPr sz="5400" b="1" i="0">
                <a:solidFill>
                  <a:srgbClr val="3EFFA0"/>
                </a:solidFill>
              </a:rPr>
              <a:t>90%</a:t>
            </a:r>
          </a:p>
        </p:txBody>
      </p:sp>
      <p:sp>
        <p:nvSpPr>
          <p:cNvPr id="6" name="TextBox 5"/>
          <p:cNvSpPr txBox="1"/>
          <p:nvPr/>
        </p:nvSpPr>
        <p:spPr>
          <a:xfrm>
            <a:off x="822960" y="3172968"/>
            <a:ext cx="3291840" cy="320040"/>
          </a:xfrm>
          <a:prstGeom prst="rect">
            <a:avLst/>
          </a:prstGeom>
          <a:noFill/>
        </p:spPr>
        <p:txBody>
          <a:bodyPr wrap="square">
            <a:spAutoFit/>
          </a:bodyPr>
          <a:lstStyle/>
          <a:p>
            <a:pPr algn="ctr"/>
            <a:r>
              <a:rPr sz="1600" b="1" i="0">
                <a:solidFill>
                  <a:srgbClr val="E8E8F0"/>
                </a:solidFill>
              </a:rPr>
              <a:t>YOLOv8n</a:t>
            </a:r>
          </a:p>
        </p:txBody>
      </p:sp>
      <p:sp>
        <p:nvSpPr>
          <p:cNvPr id="7" name="TextBox 6"/>
          <p:cNvSpPr txBox="1"/>
          <p:nvPr/>
        </p:nvSpPr>
        <p:spPr>
          <a:xfrm>
            <a:off x="822960" y="3538728"/>
            <a:ext cx="3291840" cy="256032"/>
          </a:xfrm>
          <a:prstGeom prst="rect">
            <a:avLst/>
          </a:prstGeom>
          <a:noFill/>
        </p:spPr>
        <p:txBody>
          <a:bodyPr wrap="square">
            <a:spAutoFit/>
          </a:bodyPr>
          <a:lstStyle/>
          <a:p>
            <a:pPr algn="ctr"/>
            <a:r>
              <a:rPr sz="1300" b="0" i="0">
                <a:solidFill>
                  <a:srgbClr val="888888"/>
                </a:solidFill>
              </a:rPr>
              <a:t>20 -&gt; 2 detections</a:t>
            </a:r>
          </a:p>
        </p:txBody>
      </p:sp>
      <p:sp>
        <p:nvSpPr>
          <p:cNvPr id="8" name="TextBox 7"/>
          <p:cNvSpPr txBox="1"/>
          <p:nvPr/>
        </p:nvSpPr>
        <p:spPr>
          <a:xfrm>
            <a:off x="822960" y="3904488"/>
            <a:ext cx="3291840" cy="228600"/>
          </a:xfrm>
          <a:prstGeom prst="rect">
            <a:avLst/>
          </a:prstGeom>
          <a:noFill/>
        </p:spPr>
        <p:txBody>
          <a:bodyPr wrap="square">
            <a:spAutoFit/>
          </a:bodyPr>
          <a:lstStyle/>
          <a:p>
            <a:pPr algn="ctr"/>
            <a:r>
              <a:rPr sz="1000" b="0" i="0">
                <a:solidFill>
                  <a:srgbClr val="888888"/>
                </a:solidFill>
              </a:rPr>
              <a:t>1000 epochs - loss 0.543</a:t>
            </a:r>
          </a:p>
        </p:txBody>
      </p:sp>
      <p:sp>
        <p:nvSpPr>
          <p:cNvPr id="9" name="Rectangle 8"/>
          <p:cNvSpPr/>
          <p:nvPr/>
        </p:nvSpPr>
        <p:spPr>
          <a:xfrm>
            <a:off x="4480560" y="2057400"/>
            <a:ext cx="3291840" cy="2926080"/>
          </a:xfrm>
          <a:prstGeom prst="rect">
            <a:avLst/>
          </a:prstGeom>
          <a:solidFill>
            <a:srgbClr val="1A18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2313432"/>
            <a:ext cx="3291840" cy="822960"/>
          </a:xfrm>
          <a:prstGeom prst="rect">
            <a:avLst/>
          </a:prstGeom>
          <a:noFill/>
        </p:spPr>
        <p:txBody>
          <a:bodyPr wrap="square">
            <a:spAutoFit/>
          </a:bodyPr>
          <a:lstStyle/>
          <a:p>
            <a:pPr algn="ctr"/>
            <a:r>
              <a:rPr sz="5400" b="1" i="0">
                <a:solidFill>
                  <a:srgbClr val="FFE066"/>
                </a:solidFill>
              </a:rPr>
              <a:t>72.7%</a:t>
            </a:r>
          </a:p>
        </p:txBody>
      </p:sp>
      <p:sp>
        <p:nvSpPr>
          <p:cNvPr id="11" name="TextBox 10"/>
          <p:cNvSpPr txBox="1"/>
          <p:nvPr/>
        </p:nvSpPr>
        <p:spPr>
          <a:xfrm>
            <a:off x="4480560" y="3172968"/>
            <a:ext cx="3291840" cy="320040"/>
          </a:xfrm>
          <a:prstGeom prst="rect">
            <a:avLst/>
          </a:prstGeom>
          <a:noFill/>
        </p:spPr>
        <p:txBody>
          <a:bodyPr wrap="square">
            <a:spAutoFit/>
          </a:bodyPr>
          <a:lstStyle/>
          <a:p>
            <a:pPr algn="ctr"/>
            <a:r>
              <a:rPr sz="1600" b="1" i="0">
                <a:solidFill>
                  <a:srgbClr val="E8E8F0"/>
                </a:solidFill>
              </a:rPr>
              <a:t>YOLO11n</a:t>
            </a:r>
          </a:p>
        </p:txBody>
      </p:sp>
      <p:sp>
        <p:nvSpPr>
          <p:cNvPr id="12" name="TextBox 11"/>
          <p:cNvSpPr txBox="1"/>
          <p:nvPr/>
        </p:nvSpPr>
        <p:spPr>
          <a:xfrm>
            <a:off x="4480560" y="3538728"/>
            <a:ext cx="3291840" cy="256032"/>
          </a:xfrm>
          <a:prstGeom prst="rect">
            <a:avLst/>
          </a:prstGeom>
          <a:noFill/>
        </p:spPr>
        <p:txBody>
          <a:bodyPr wrap="square">
            <a:spAutoFit/>
          </a:bodyPr>
          <a:lstStyle/>
          <a:p>
            <a:pPr algn="ctr"/>
            <a:r>
              <a:rPr sz="1300" b="0" i="0">
                <a:solidFill>
                  <a:srgbClr val="888888"/>
                </a:solidFill>
              </a:rPr>
              <a:t>33 -&gt; 9 detections</a:t>
            </a:r>
          </a:p>
        </p:txBody>
      </p:sp>
      <p:sp>
        <p:nvSpPr>
          <p:cNvPr id="13" name="TextBox 12"/>
          <p:cNvSpPr txBox="1"/>
          <p:nvPr/>
        </p:nvSpPr>
        <p:spPr>
          <a:xfrm>
            <a:off x="4480560" y="3904488"/>
            <a:ext cx="3291840" cy="228600"/>
          </a:xfrm>
          <a:prstGeom prst="rect">
            <a:avLst/>
          </a:prstGeom>
          <a:noFill/>
        </p:spPr>
        <p:txBody>
          <a:bodyPr wrap="square">
            <a:spAutoFit/>
          </a:bodyPr>
          <a:lstStyle/>
          <a:p>
            <a:pPr algn="ctr"/>
            <a:r>
              <a:rPr sz="1000" b="0" i="0">
                <a:solidFill>
                  <a:srgbClr val="888888"/>
                </a:solidFill>
              </a:rPr>
              <a:t>1000 epochs - loss 0.597</a:t>
            </a:r>
          </a:p>
        </p:txBody>
      </p:sp>
      <p:sp>
        <p:nvSpPr>
          <p:cNvPr id="14" name="Rectangle 13"/>
          <p:cNvSpPr/>
          <p:nvPr/>
        </p:nvSpPr>
        <p:spPr>
          <a:xfrm>
            <a:off x="8138160" y="2057400"/>
            <a:ext cx="3291840" cy="2926080"/>
          </a:xfrm>
          <a:prstGeom prst="rect">
            <a:avLst/>
          </a:prstGeom>
          <a:solidFill>
            <a:srgbClr val="1A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60" y="2313432"/>
            <a:ext cx="3291840" cy="822960"/>
          </a:xfrm>
          <a:prstGeom prst="rect">
            <a:avLst/>
          </a:prstGeom>
          <a:noFill/>
        </p:spPr>
        <p:txBody>
          <a:bodyPr wrap="square">
            <a:spAutoFit/>
          </a:bodyPr>
          <a:lstStyle/>
          <a:p>
            <a:pPr algn="ctr"/>
            <a:r>
              <a:rPr sz="5400" b="1" i="0">
                <a:solidFill>
                  <a:srgbClr val="FF6060"/>
                </a:solidFill>
              </a:rPr>
              <a:t>16.3%</a:t>
            </a:r>
          </a:p>
        </p:txBody>
      </p:sp>
      <p:sp>
        <p:nvSpPr>
          <p:cNvPr id="16" name="TextBox 15"/>
          <p:cNvSpPr txBox="1"/>
          <p:nvPr/>
        </p:nvSpPr>
        <p:spPr>
          <a:xfrm>
            <a:off x="8138160" y="3172968"/>
            <a:ext cx="3291840" cy="320040"/>
          </a:xfrm>
          <a:prstGeom prst="rect">
            <a:avLst/>
          </a:prstGeom>
          <a:noFill/>
        </p:spPr>
        <p:txBody>
          <a:bodyPr wrap="square">
            <a:spAutoFit/>
          </a:bodyPr>
          <a:lstStyle/>
          <a:p>
            <a:pPr algn="ctr"/>
            <a:r>
              <a:rPr sz="1600" b="1" i="0">
                <a:solidFill>
                  <a:srgbClr val="E8E8F0"/>
                </a:solidFill>
              </a:rPr>
              <a:t>YOLO26n</a:t>
            </a:r>
          </a:p>
        </p:txBody>
      </p:sp>
      <p:sp>
        <p:nvSpPr>
          <p:cNvPr id="17" name="TextBox 16"/>
          <p:cNvSpPr txBox="1"/>
          <p:nvPr/>
        </p:nvSpPr>
        <p:spPr>
          <a:xfrm>
            <a:off x="8138160" y="3538728"/>
            <a:ext cx="3291840" cy="256032"/>
          </a:xfrm>
          <a:prstGeom prst="rect">
            <a:avLst/>
          </a:prstGeom>
          <a:noFill/>
        </p:spPr>
        <p:txBody>
          <a:bodyPr wrap="square">
            <a:spAutoFit/>
          </a:bodyPr>
          <a:lstStyle/>
          <a:p>
            <a:pPr algn="ctr"/>
            <a:r>
              <a:rPr sz="1300" b="0" i="0">
                <a:solidFill>
                  <a:srgbClr val="888888"/>
                </a:solidFill>
              </a:rPr>
              <a:t>43 -&gt; 36 detections</a:t>
            </a:r>
          </a:p>
        </p:txBody>
      </p:sp>
      <p:sp>
        <p:nvSpPr>
          <p:cNvPr id="18" name="TextBox 17"/>
          <p:cNvSpPr txBox="1"/>
          <p:nvPr/>
        </p:nvSpPr>
        <p:spPr>
          <a:xfrm>
            <a:off x="8138160" y="3904488"/>
            <a:ext cx="3291840" cy="228600"/>
          </a:xfrm>
          <a:prstGeom prst="rect">
            <a:avLst/>
          </a:prstGeom>
          <a:noFill/>
        </p:spPr>
        <p:txBody>
          <a:bodyPr wrap="square">
            <a:spAutoFit/>
          </a:bodyPr>
          <a:lstStyle/>
          <a:p>
            <a:pPr algn="ctr"/>
            <a:r>
              <a:rPr sz="1000" b="0" i="0">
                <a:solidFill>
                  <a:srgbClr val="888888"/>
                </a:solidFill>
              </a:rPr>
              <a:t>1000 epochs - loss 0.108</a:t>
            </a:r>
          </a:p>
        </p:txBody>
      </p:sp>
      <p:sp>
        <p:nvSpPr>
          <p:cNvPr id="19" name="TextBox 18"/>
          <p:cNvSpPr txBox="1"/>
          <p:nvPr/>
        </p:nvSpPr>
        <p:spPr>
          <a:xfrm>
            <a:off x="822960" y="5230368"/>
            <a:ext cx="10424160" cy="274320"/>
          </a:xfrm>
          <a:prstGeom prst="rect">
            <a:avLst/>
          </a:prstGeom>
          <a:noFill/>
        </p:spPr>
        <p:txBody>
          <a:bodyPr wrap="square">
            <a:spAutoFit/>
          </a:bodyPr>
          <a:lstStyle/>
          <a:p>
            <a:pPr algn="l"/>
            <a:r>
              <a:rPr sz="1300" b="0" i="0">
                <a:solidFill>
                  <a:srgbClr val="CCCCCC"/>
                </a:solidFill>
              </a:rPr>
              <a:t>Patch size: 100 x 100 px  |  Image size: 640 x 640  |  2.4% of total pixels</a:t>
            </a:r>
          </a:p>
        </p:txBody>
      </p:sp>
      <p:sp>
        <p:nvSpPr>
          <p:cNvPr id="20" name="TextBox 19"/>
          <p:cNvSpPr txBox="1"/>
          <p:nvPr/>
        </p:nvSpPr>
        <p:spPr>
          <a:xfrm>
            <a:off x="822960" y="5504688"/>
            <a:ext cx="10424160" cy="274320"/>
          </a:xfrm>
          <a:prstGeom prst="rect">
            <a:avLst/>
          </a:prstGeom>
          <a:noFill/>
        </p:spPr>
        <p:txBody>
          <a:bodyPr wrap="square">
            <a:spAutoFit/>
          </a:bodyPr>
          <a:lstStyle/>
          <a:p>
            <a:pPr algn="l"/>
            <a:r>
              <a:rPr sz="1000" b="0" i="0">
                <a:solidFill>
                  <a:srgbClr val="444444"/>
                </a:solidFill>
              </a:rPr>
              <a:t>Within v26n runs, better objective convergence did not yield better suppression - see The v26n Paradox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F"/>
        </a:solidFill>
        <a:effectLst/>
      </p:bgPr>
    </p:bg>
    <p:spTree>
      <p:nvGrpSpPr>
        <p:cNvPr id="1" name=""/>
        <p:cNvGrpSpPr/>
        <p:nvPr/>
      </p:nvGrpSpPr>
      <p:grpSpPr/>
      <p:sp>
        <p:nvSpPr>
          <p:cNvPr id="2" name="TextBox 1"/>
          <p:cNvSpPr txBox="1"/>
          <p:nvPr/>
        </p:nvSpPr>
        <p:spPr>
          <a:xfrm>
            <a:off x="822960" y="411480"/>
            <a:ext cx="3657600" cy="256032"/>
          </a:xfrm>
          <a:prstGeom prst="rect">
            <a:avLst/>
          </a:prstGeom>
          <a:noFill/>
        </p:spPr>
        <p:txBody>
          <a:bodyPr wrap="square">
            <a:spAutoFit/>
          </a:bodyPr>
          <a:lstStyle/>
          <a:p>
            <a:pPr algn="l"/>
            <a:r>
              <a:rPr sz="900" b="1" i="0">
                <a:solidFill>
                  <a:srgbClr val="60B8FF"/>
                </a:solidFill>
              </a:rPr>
              <a:t>ATTACK TRACK - TRANSFER ANALYSIS</a:t>
            </a:r>
          </a:p>
        </p:txBody>
      </p:sp>
      <p:sp>
        <p:nvSpPr>
          <p:cNvPr id="3" name="TextBox 2"/>
          <p:cNvSpPr txBox="1"/>
          <p:nvPr/>
        </p:nvSpPr>
        <p:spPr>
          <a:xfrm>
            <a:off x="822960" y="777240"/>
            <a:ext cx="10241280" cy="1463040"/>
          </a:xfrm>
          <a:prstGeom prst="rect">
            <a:avLst/>
          </a:prstGeom>
          <a:noFill/>
        </p:spPr>
        <p:txBody>
          <a:bodyPr wrap="square">
            <a:spAutoFit/>
          </a:bodyPr>
          <a:lstStyle/>
          <a:p>
            <a:pPr algn="l"/>
            <a:r>
              <a:rPr sz="3600" b="1" i="0">
                <a:solidFill>
                  <a:srgbClr val="E8E8F0"/>
                </a:solidFill>
              </a:rPr>
              <a:t>The</a:t>
            </a:r>
          </a:p>
          <a:p>
            <a:pPr algn="l"/>
            <a:r>
              <a:rPr sz="3600" b="1" i="0">
                <a:solidFill>
                  <a:srgbClr val="60B8FF"/>
                </a:solidFill>
              </a:rPr>
              <a:t>Bad Triangle</a:t>
            </a:r>
          </a:p>
        </p:txBody>
      </p:sp>
      <p:sp>
        <p:nvSpPr>
          <p:cNvPr id="4" name="TextBox 3"/>
          <p:cNvSpPr txBox="1"/>
          <p:nvPr/>
        </p:nvSpPr>
        <p:spPr>
          <a:xfrm>
            <a:off x="822960" y="1828800"/>
            <a:ext cx="6309360" cy="274320"/>
          </a:xfrm>
          <a:prstGeom prst="rect">
            <a:avLst/>
          </a:prstGeom>
          <a:noFill/>
        </p:spPr>
        <p:txBody>
          <a:bodyPr wrap="square">
            <a:spAutoFit/>
          </a:bodyPr>
          <a:lstStyle/>
          <a:p>
            <a:pPr algn="l"/>
            <a:r>
              <a:rPr sz="900" b="1" i="0">
                <a:solidFill>
                  <a:srgbClr val="60B8FF"/>
                </a:solidFill>
              </a:rPr>
              <a:t>Cross-model suppression matrix  |  row = patch trained on  |  column = model tested against</a:t>
            </a:r>
          </a:p>
        </p:txBody>
      </p:sp>
      <p:sp>
        <p:nvSpPr>
          <p:cNvPr id="5" name="TextBox 4"/>
          <p:cNvSpPr txBox="1"/>
          <p:nvPr/>
        </p:nvSpPr>
        <p:spPr>
          <a:xfrm>
            <a:off x="822960" y="2212848"/>
            <a:ext cx="1463040" cy="219456"/>
          </a:xfrm>
          <a:prstGeom prst="rect">
            <a:avLst/>
          </a:prstGeom>
          <a:noFill/>
        </p:spPr>
        <p:txBody>
          <a:bodyPr wrap="square">
            <a:spAutoFit/>
          </a:bodyPr>
          <a:lstStyle/>
          <a:p>
            <a:pPr algn="l"/>
            <a:r>
              <a:rPr sz="900" b="0" i="0">
                <a:solidFill>
                  <a:srgbClr val="888888"/>
                </a:solidFill>
              </a:rPr>
              <a:t>Patch source</a:t>
            </a:r>
          </a:p>
        </p:txBody>
      </p:sp>
      <p:sp>
        <p:nvSpPr>
          <p:cNvPr id="6" name="TextBox 5"/>
          <p:cNvSpPr txBox="1"/>
          <p:nvPr/>
        </p:nvSpPr>
        <p:spPr>
          <a:xfrm>
            <a:off x="2286000" y="2212848"/>
            <a:ext cx="1463040" cy="219456"/>
          </a:xfrm>
          <a:prstGeom prst="rect">
            <a:avLst/>
          </a:prstGeom>
          <a:noFill/>
        </p:spPr>
        <p:txBody>
          <a:bodyPr wrap="square">
            <a:spAutoFit/>
          </a:bodyPr>
          <a:lstStyle/>
          <a:p>
            <a:pPr algn="l"/>
            <a:r>
              <a:rPr sz="900" b="0" i="0">
                <a:solidFill>
                  <a:srgbClr val="888888"/>
                </a:solidFill>
              </a:rPr>
              <a:t>-&gt; v8n</a:t>
            </a:r>
          </a:p>
        </p:txBody>
      </p:sp>
      <p:sp>
        <p:nvSpPr>
          <p:cNvPr id="7" name="TextBox 6"/>
          <p:cNvSpPr txBox="1"/>
          <p:nvPr/>
        </p:nvSpPr>
        <p:spPr>
          <a:xfrm>
            <a:off x="3749040" y="2212848"/>
            <a:ext cx="1463040" cy="219456"/>
          </a:xfrm>
          <a:prstGeom prst="rect">
            <a:avLst/>
          </a:prstGeom>
          <a:noFill/>
        </p:spPr>
        <p:txBody>
          <a:bodyPr wrap="square">
            <a:spAutoFit/>
          </a:bodyPr>
          <a:lstStyle/>
          <a:p>
            <a:pPr algn="l"/>
            <a:r>
              <a:rPr sz="900" b="0" i="0">
                <a:solidFill>
                  <a:srgbClr val="888888"/>
                </a:solidFill>
              </a:rPr>
              <a:t>-&gt; v11n</a:t>
            </a:r>
          </a:p>
        </p:txBody>
      </p:sp>
      <p:sp>
        <p:nvSpPr>
          <p:cNvPr id="8" name="TextBox 7"/>
          <p:cNvSpPr txBox="1"/>
          <p:nvPr/>
        </p:nvSpPr>
        <p:spPr>
          <a:xfrm>
            <a:off x="5212080" y="2212848"/>
            <a:ext cx="1463040" cy="219456"/>
          </a:xfrm>
          <a:prstGeom prst="rect">
            <a:avLst/>
          </a:prstGeom>
          <a:noFill/>
        </p:spPr>
        <p:txBody>
          <a:bodyPr wrap="square">
            <a:spAutoFit/>
          </a:bodyPr>
          <a:lstStyle/>
          <a:p>
            <a:pPr algn="l"/>
            <a:r>
              <a:rPr sz="900" b="0" i="0">
                <a:solidFill>
                  <a:srgbClr val="888888"/>
                </a:solidFill>
              </a:rPr>
              <a:t>-&gt; v26n</a:t>
            </a:r>
          </a:p>
        </p:txBody>
      </p:sp>
      <p:sp>
        <p:nvSpPr>
          <p:cNvPr id="9" name="Rectangle 8"/>
          <p:cNvSpPr/>
          <p:nvPr/>
        </p:nvSpPr>
        <p:spPr>
          <a:xfrm>
            <a:off x="749808" y="2487168"/>
            <a:ext cx="6080760" cy="384048"/>
          </a:xfrm>
          <a:prstGeom prst="rect">
            <a:avLst/>
          </a:prstGeom>
          <a:solidFill>
            <a:srgbClr val="12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523744"/>
            <a:ext cx="1463040" cy="219456"/>
          </a:xfrm>
          <a:prstGeom prst="rect">
            <a:avLst/>
          </a:prstGeom>
          <a:noFill/>
        </p:spPr>
        <p:txBody>
          <a:bodyPr wrap="square">
            <a:spAutoFit/>
          </a:bodyPr>
          <a:lstStyle/>
          <a:p>
            <a:pPr algn="l"/>
            <a:r>
              <a:rPr sz="1200" b="0" i="0">
                <a:solidFill>
                  <a:srgbClr val="888888"/>
                </a:solidFill>
              </a:rPr>
              <a:t>v8n</a:t>
            </a:r>
          </a:p>
        </p:txBody>
      </p:sp>
      <p:sp>
        <p:nvSpPr>
          <p:cNvPr id="11" name="TextBox 10"/>
          <p:cNvSpPr txBox="1"/>
          <p:nvPr/>
        </p:nvSpPr>
        <p:spPr>
          <a:xfrm>
            <a:off x="2286000" y="2523744"/>
            <a:ext cx="1463040" cy="219456"/>
          </a:xfrm>
          <a:prstGeom prst="rect">
            <a:avLst/>
          </a:prstGeom>
          <a:noFill/>
        </p:spPr>
        <p:txBody>
          <a:bodyPr wrap="square">
            <a:spAutoFit/>
          </a:bodyPr>
          <a:lstStyle/>
          <a:p>
            <a:pPr algn="l"/>
            <a:r>
              <a:rPr sz="1200" b="1" i="0">
                <a:solidFill>
                  <a:srgbClr val="3EFFA0"/>
                </a:solidFill>
              </a:rPr>
              <a:t>90% *</a:t>
            </a:r>
          </a:p>
        </p:txBody>
      </p:sp>
      <p:sp>
        <p:nvSpPr>
          <p:cNvPr id="12" name="TextBox 11"/>
          <p:cNvSpPr txBox="1"/>
          <p:nvPr/>
        </p:nvSpPr>
        <p:spPr>
          <a:xfrm>
            <a:off x="3749040" y="2523744"/>
            <a:ext cx="1463040" cy="219456"/>
          </a:xfrm>
          <a:prstGeom prst="rect">
            <a:avLst/>
          </a:prstGeom>
          <a:noFill/>
        </p:spPr>
        <p:txBody>
          <a:bodyPr wrap="square">
            <a:spAutoFit/>
          </a:bodyPr>
          <a:lstStyle/>
          <a:p>
            <a:pPr algn="l"/>
            <a:r>
              <a:rPr sz="1200" b="1" i="0">
                <a:solidFill>
                  <a:srgbClr val="FFE066"/>
                </a:solidFill>
              </a:rPr>
              <a:t>36.4%</a:t>
            </a:r>
          </a:p>
        </p:txBody>
      </p:sp>
      <p:sp>
        <p:nvSpPr>
          <p:cNvPr id="13" name="TextBox 12"/>
          <p:cNvSpPr txBox="1"/>
          <p:nvPr/>
        </p:nvSpPr>
        <p:spPr>
          <a:xfrm>
            <a:off x="5212080" y="2523744"/>
            <a:ext cx="1463040" cy="219456"/>
          </a:xfrm>
          <a:prstGeom prst="rect">
            <a:avLst/>
          </a:prstGeom>
          <a:noFill/>
        </p:spPr>
        <p:txBody>
          <a:bodyPr wrap="square">
            <a:spAutoFit/>
          </a:bodyPr>
          <a:lstStyle/>
          <a:p>
            <a:pPr algn="l"/>
            <a:r>
              <a:rPr sz="1200" b="1" i="0">
                <a:solidFill>
                  <a:srgbClr val="FF6060"/>
                </a:solidFill>
              </a:rPr>
              <a:t>11.6%</a:t>
            </a:r>
          </a:p>
        </p:txBody>
      </p:sp>
      <p:sp>
        <p:nvSpPr>
          <p:cNvPr id="14" name="Rectangle 13"/>
          <p:cNvSpPr/>
          <p:nvPr/>
        </p:nvSpPr>
        <p:spPr>
          <a:xfrm>
            <a:off x="749808" y="2962656"/>
            <a:ext cx="6080760" cy="384048"/>
          </a:xfrm>
          <a:prstGeom prst="rect">
            <a:avLst/>
          </a:prstGeom>
          <a:solidFill>
            <a:srgbClr val="0A0A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999232"/>
            <a:ext cx="1463040" cy="219456"/>
          </a:xfrm>
          <a:prstGeom prst="rect">
            <a:avLst/>
          </a:prstGeom>
          <a:noFill/>
        </p:spPr>
        <p:txBody>
          <a:bodyPr wrap="square">
            <a:spAutoFit/>
          </a:bodyPr>
          <a:lstStyle/>
          <a:p>
            <a:pPr algn="l"/>
            <a:r>
              <a:rPr sz="1200" b="0" i="0">
                <a:solidFill>
                  <a:srgbClr val="888888"/>
                </a:solidFill>
              </a:rPr>
              <a:t>v11n</a:t>
            </a:r>
          </a:p>
        </p:txBody>
      </p:sp>
      <p:sp>
        <p:nvSpPr>
          <p:cNvPr id="16" name="TextBox 15"/>
          <p:cNvSpPr txBox="1"/>
          <p:nvPr/>
        </p:nvSpPr>
        <p:spPr>
          <a:xfrm>
            <a:off x="2286000" y="2999232"/>
            <a:ext cx="1463040" cy="219456"/>
          </a:xfrm>
          <a:prstGeom prst="rect">
            <a:avLst/>
          </a:prstGeom>
          <a:noFill/>
        </p:spPr>
        <p:txBody>
          <a:bodyPr wrap="square">
            <a:spAutoFit/>
          </a:bodyPr>
          <a:lstStyle/>
          <a:p>
            <a:pPr algn="l"/>
            <a:r>
              <a:rPr sz="1200" b="1" i="0">
                <a:solidFill>
                  <a:srgbClr val="FFE066"/>
                </a:solidFill>
              </a:rPr>
              <a:t>50.0%</a:t>
            </a:r>
          </a:p>
        </p:txBody>
      </p:sp>
      <p:sp>
        <p:nvSpPr>
          <p:cNvPr id="17" name="TextBox 16"/>
          <p:cNvSpPr txBox="1"/>
          <p:nvPr/>
        </p:nvSpPr>
        <p:spPr>
          <a:xfrm>
            <a:off x="3749040" y="2999232"/>
            <a:ext cx="1463040" cy="219456"/>
          </a:xfrm>
          <a:prstGeom prst="rect">
            <a:avLst/>
          </a:prstGeom>
          <a:noFill/>
        </p:spPr>
        <p:txBody>
          <a:bodyPr wrap="square">
            <a:spAutoFit/>
          </a:bodyPr>
          <a:lstStyle/>
          <a:p>
            <a:pPr algn="l"/>
            <a:r>
              <a:rPr sz="1200" b="1" i="0">
                <a:solidFill>
                  <a:srgbClr val="3EFFA0"/>
                </a:solidFill>
              </a:rPr>
              <a:t>72.7% *</a:t>
            </a:r>
          </a:p>
        </p:txBody>
      </p:sp>
      <p:sp>
        <p:nvSpPr>
          <p:cNvPr id="18" name="TextBox 17"/>
          <p:cNvSpPr txBox="1"/>
          <p:nvPr/>
        </p:nvSpPr>
        <p:spPr>
          <a:xfrm>
            <a:off x="5212080" y="2999232"/>
            <a:ext cx="1463040" cy="219456"/>
          </a:xfrm>
          <a:prstGeom prst="rect">
            <a:avLst/>
          </a:prstGeom>
          <a:noFill/>
        </p:spPr>
        <p:txBody>
          <a:bodyPr wrap="square">
            <a:spAutoFit/>
          </a:bodyPr>
          <a:lstStyle/>
          <a:p>
            <a:pPr algn="l"/>
            <a:r>
              <a:rPr sz="1200" b="1" i="0">
                <a:solidFill>
                  <a:srgbClr val="FF6060"/>
                </a:solidFill>
              </a:rPr>
              <a:t>9.3%</a:t>
            </a:r>
          </a:p>
        </p:txBody>
      </p:sp>
      <p:sp>
        <p:nvSpPr>
          <p:cNvPr id="19" name="Rectangle 18"/>
          <p:cNvSpPr/>
          <p:nvPr/>
        </p:nvSpPr>
        <p:spPr>
          <a:xfrm>
            <a:off x="749808" y="3438144"/>
            <a:ext cx="6080760" cy="384048"/>
          </a:xfrm>
          <a:prstGeom prst="rect">
            <a:avLst/>
          </a:prstGeom>
          <a:solidFill>
            <a:srgbClr val="12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474720"/>
            <a:ext cx="1463040" cy="219456"/>
          </a:xfrm>
          <a:prstGeom prst="rect">
            <a:avLst/>
          </a:prstGeom>
          <a:noFill/>
        </p:spPr>
        <p:txBody>
          <a:bodyPr wrap="square">
            <a:spAutoFit/>
          </a:bodyPr>
          <a:lstStyle/>
          <a:p>
            <a:pPr algn="l"/>
            <a:r>
              <a:rPr sz="1200" b="0" i="0">
                <a:solidFill>
                  <a:srgbClr val="888888"/>
                </a:solidFill>
              </a:rPr>
              <a:t>v26n</a:t>
            </a:r>
          </a:p>
        </p:txBody>
      </p:sp>
      <p:sp>
        <p:nvSpPr>
          <p:cNvPr id="21" name="TextBox 20"/>
          <p:cNvSpPr txBox="1"/>
          <p:nvPr/>
        </p:nvSpPr>
        <p:spPr>
          <a:xfrm>
            <a:off x="2286000" y="3474720"/>
            <a:ext cx="1463040" cy="219456"/>
          </a:xfrm>
          <a:prstGeom prst="rect">
            <a:avLst/>
          </a:prstGeom>
          <a:noFill/>
        </p:spPr>
        <p:txBody>
          <a:bodyPr wrap="square">
            <a:spAutoFit/>
          </a:bodyPr>
          <a:lstStyle/>
          <a:p>
            <a:pPr algn="l"/>
            <a:r>
              <a:rPr sz="1200" b="1" i="0">
                <a:solidFill>
                  <a:srgbClr val="FFE066"/>
                </a:solidFill>
              </a:rPr>
              <a:t>45.0%</a:t>
            </a:r>
          </a:p>
        </p:txBody>
      </p:sp>
      <p:sp>
        <p:nvSpPr>
          <p:cNvPr id="22" name="TextBox 21"/>
          <p:cNvSpPr txBox="1"/>
          <p:nvPr/>
        </p:nvSpPr>
        <p:spPr>
          <a:xfrm>
            <a:off x="3749040" y="3474720"/>
            <a:ext cx="1463040" cy="219456"/>
          </a:xfrm>
          <a:prstGeom prst="rect">
            <a:avLst/>
          </a:prstGeom>
          <a:noFill/>
        </p:spPr>
        <p:txBody>
          <a:bodyPr wrap="square">
            <a:spAutoFit/>
          </a:bodyPr>
          <a:lstStyle/>
          <a:p>
            <a:pPr algn="l"/>
            <a:r>
              <a:rPr sz="1200" b="1" i="0">
                <a:solidFill>
                  <a:srgbClr val="FFE066"/>
                </a:solidFill>
              </a:rPr>
              <a:t>24.2%</a:t>
            </a:r>
          </a:p>
        </p:txBody>
      </p:sp>
      <p:sp>
        <p:nvSpPr>
          <p:cNvPr id="23" name="TextBox 22"/>
          <p:cNvSpPr txBox="1"/>
          <p:nvPr/>
        </p:nvSpPr>
        <p:spPr>
          <a:xfrm>
            <a:off x="5212080" y="3474720"/>
            <a:ext cx="1463040" cy="219456"/>
          </a:xfrm>
          <a:prstGeom prst="rect">
            <a:avLst/>
          </a:prstGeom>
          <a:noFill/>
        </p:spPr>
        <p:txBody>
          <a:bodyPr wrap="square">
            <a:spAutoFit/>
          </a:bodyPr>
          <a:lstStyle/>
          <a:p>
            <a:pPr algn="l"/>
            <a:r>
              <a:rPr sz="1200" b="1" i="0">
                <a:solidFill>
                  <a:srgbClr val="FF6060"/>
                </a:solidFill>
              </a:rPr>
              <a:t>16.3% *</a:t>
            </a:r>
          </a:p>
        </p:txBody>
      </p:sp>
      <p:sp>
        <p:nvSpPr>
          <p:cNvPr id="24" name="TextBox 23"/>
          <p:cNvSpPr txBox="1"/>
          <p:nvPr/>
        </p:nvSpPr>
        <p:spPr>
          <a:xfrm>
            <a:off x="822960" y="3703320"/>
            <a:ext cx="6309360" cy="274320"/>
          </a:xfrm>
          <a:prstGeom prst="rect">
            <a:avLst/>
          </a:prstGeom>
          <a:noFill/>
        </p:spPr>
        <p:txBody>
          <a:bodyPr wrap="square">
            <a:spAutoFit/>
          </a:bodyPr>
          <a:lstStyle/>
          <a:p>
            <a:pPr algn="l"/>
            <a:r>
              <a:rPr sz="1000" b="0" i="0">
                <a:solidFill>
                  <a:srgbClr val="888888"/>
                </a:solidFill>
              </a:rPr>
              <a:t>* = white-box  |  off-diagonal = black-box transfer</a:t>
            </a:r>
          </a:p>
        </p:txBody>
      </p:sp>
      <p:sp>
        <p:nvSpPr>
          <p:cNvPr id="25" name="Rectangle 24"/>
          <p:cNvSpPr/>
          <p:nvPr/>
        </p:nvSpPr>
        <p:spPr>
          <a:xfrm>
            <a:off x="822960" y="4069080"/>
            <a:ext cx="6309360" cy="1051560"/>
          </a:xfrm>
          <a:prstGeom prst="rect">
            <a:avLst/>
          </a:prstGeom>
          <a:solidFill>
            <a:srgbClr val="0D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4206240"/>
            <a:ext cx="5943600" cy="201168"/>
          </a:xfrm>
          <a:prstGeom prst="rect">
            <a:avLst/>
          </a:prstGeom>
          <a:noFill/>
        </p:spPr>
        <p:txBody>
          <a:bodyPr wrap="square">
            <a:spAutoFit/>
          </a:bodyPr>
          <a:lstStyle/>
          <a:p>
            <a:pPr algn="l"/>
            <a:r>
              <a:rPr sz="900" b="1" i="0">
                <a:solidFill>
                  <a:srgbClr val="60B8FF"/>
                </a:solidFill>
              </a:rPr>
              <a:t>JOINT PATCHES</a:t>
            </a:r>
          </a:p>
        </p:txBody>
      </p:sp>
      <p:sp>
        <p:nvSpPr>
          <p:cNvPr id="27" name="TextBox 26"/>
          <p:cNvSpPr txBox="1"/>
          <p:nvPr/>
        </p:nvSpPr>
        <p:spPr>
          <a:xfrm>
            <a:off x="1005840" y="4526280"/>
            <a:ext cx="5897880" cy="411480"/>
          </a:xfrm>
          <a:prstGeom prst="rect">
            <a:avLst/>
          </a:prstGeom>
          <a:noFill/>
        </p:spPr>
        <p:txBody>
          <a:bodyPr wrap="square">
            <a:spAutoFit/>
          </a:bodyPr>
          <a:lstStyle/>
          <a:p>
            <a:pPr algn="l"/>
            <a:r>
              <a:rPr sz="1200" b="0" i="0">
                <a:solidFill>
                  <a:srgbClr val="CCCCCC"/>
                </a:solidFill>
              </a:rPr>
              <a:t>v8n+v11n -&gt; v8n  85%   |   v8n+v11n -&gt; v11n  66.7%   |   v8n+v26n -&gt; v26n  18.6% (best v26n result)</a:t>
            </a:r>
          </a:p>
        </p:txBody>
      </p:sp>
      <p:sp>
        <p:nvSpPr>
          <p:cNvPr id="28" name="Rectangle 27"/>
          <p:cNvSpPr/>
          <p:nvPr/>
        </p:nvSpPr>
        <p:spPr>
          <a:xfrm>
            <a:off x="7452360" y="2148840"/>
            <a:ext cx="3886200" cy="1325880"/>
          </a:xfrm>
          <a:prstGeom prst="rect">
            <a:avLst/>
          </a:prstGeom>
          <a:solidFill>
            <a:srgbClr val="1A18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35240" y="2286000"/>
            <a:ext cx="3566160" cy="201168"/>
          </a:xfrm>
          <a:prstGeom prst="rect">
            <a:avLst/>
          </a:prstGeom>
          <a:noFill/>
        </p:spPr>
        <p:txBody>
          <a:bodyPr wrap="square">
            <a:spAutoFit/>
          </a:bodyPr>
          <a:lstStyle/>
          <a:p>
            <a:pPr algn="l"/>
            <a:r>
              <a:rPr sz="900" b="1" i="0">
                <a:solidFill>
                  <a:srgbClr val="60B8FF"/>
                </a:solidFill>
              </a:rPr>
              <a:t>ASYMMETRY</a:t>
            </a:r>
          </a:p>
        </p:txBody>
      </p:sp>
      <p:sp>
        <p:nvSpPr>
          <p:cNvPr id="30" name="TextBox 29"/>
          <p:cNvSpPr txBox="1"/>
          <p:nvPr/>
        </p:nvSpPr>
        <p:spPr>
          <a:xfrm>
            <a:off x="7635240" y="2578608"/>
            <a:ext cx="3520440" cy="822960"/>
          </a:xfrm>
          <a:prstGeom prst="rect">
            <a:avLst/>
          </a:prstGeom>
          <a:noFill/>
        </p:spPr>
        <p:txBody>
          <a:bodyPr wrap="square">
            <a:spAutoFit/>
          </a:bodyPr>
          <a:lstStyle/>
          <a:p>
            <a:pPr algn="l"/>
            <a:r>
              <a:rPr sz="1200" b="0" i="0">
                <a:solidFill>
                  <a:srgbClr val="CCCCCC"/>
                </a:solidFill>
              </a:rPr>
              <a:t>v11n -&gt; v8n = 50%  &gt;  v8n -&gt; v11n = 36.4%
Newer-generation patches reach backward better than older patches reach forward.</a:t>
            </a:r>
          </a:p>
        </p:txBody>
      </p:sp>
      <p:sp>
        <p:nvSpPr>
          <p:cNvPr id="31" name="Rectangle 30"/>
          <p:cNvSpPr/>
          <p:nvPr/>
        </p:nvSpPr>
        <p:spPr>
          <a:xfrm>
            <a:off x="7452360" y="3657600"/>
            <a:ext cx="3886200" cy="1828800"/>
          </a:xfrm>
          <a:prstGeom prst="rect">
            <a:avLst/>
          </a:prstGeom>
          <a:solidFill>
            <a:srgbClr val="1A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40" y="3794760"/>
            <a:ext cx="3566160" cy="201168"/>
          </a:xfrm>
          <a:prstGeom prst="rect">
            <a:avLst/>
          </a:prstGeom>
          <a:noFill/>
        </p:spPr>
        <p:txBody>
          <a:bodyPr wrap="square">
            <a:spAutoFit/>
          </a:bodyPr>
          <a:lstStyle/>
          <a:p>
            <a:pPr algn="l"/>
            <a:r>
              <a:rPr sz="900" b="1" i="0">
                <a:solidFill>
                  <a:srgbClr val="60B8FF"/>
                </a:solidFill>
              </a:rPr>
              <a:t>THE v26n FIREWALL</a:t>
            </a:r>
          </a:p>
        </p:txBody>
      </p:sp>
      <p:sp>
        <p:nvSpPr>
          <p:cNvPr id="33" name="TextBox 32"/>
          <p:cNvSpPr txBox="1"/>
          <p:nvPr/>
        </p:nvSpPr>
        <p:spPr>
          <a:xfrm>
            <a:off x="7635240" y="4087368"/>
            <a:ext cx="3520440" cy="1280160"/>
          </a:xfrm>
          <a:prstGeom prst="rect">
            <a:avLst/>
          </a:prstGeom>
          <a:noFill/>
        </p:spPr>
        <p:txBody>
          <a:bodyPr wrap="square">
            <a:spAutoFit/>
          </a:bodyPr>
          <a:lstStyle/>
          <a:p>
            <a:pPr algn="l"/>
            <a:r>
              <a:rPr sz="1200" b="0" i="0">
                <a:solidFill>
                  <a:srgbClr val="CCCCCC"/>
                </a:solidFill>
              </a:rPr>
              <a:t>v26n is the hardest target in this matrix - nothing exceeds 18.6% against it.
Its own patch still transfers out at 45% and 24.2%.
In this setup, resistance as a target did not stop it from producing transferable adversarial structure.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F"/>
        </a:solidFill>
        <a:effectLst/>
      </p:bgPr>
    </p:bg>
    <p:spTree>
      <p:nvGrpSpPr>
        <p:cNvPr id="1" name=""/>
        <p:cNvGrpSpPr/>
        <p:nvPr/>
      </p:nvGrpSpPr>
      <p:grpSpPr/>
      <p:sp>
        <p:nvSpPr>
          <p:cNvPr id="2" name="TextBox 1"/>
          <p:cNvSpPr txBox="1"/>
          <p:nvPr/>
        </p:nvSpPr>
        <p:spPr>
          <a:xfrm>
            <a:off x="822960" y="411480"/>
            <a:ext cx="3657600" cy="256032"/>
          </a:xfrm>
          <a:prstGeom prst="rect">
            <a:avLst/>
          </a:prstGeom>
          <a:noFill/>
        </p:spPr>
        <p:txBody>
          <a:bodyPr wrap="square">
            <a:spAutoFit/>
          </a:bodyPr>
          <a:lstStyle/>
          <a:p>
            <a:pPr algn="l"/>
            <a:r>
              <a:rPr sz="900" b="1" i="0">
                <a:solidFill>
                  <a:srgbClr val="60B8FF"/>
                </a:solidFill>
              </a:rPr>
              <a:t>ATTACK TRACK - DEFENSE BENCHMARK</a:t>
            </a:r>
          </a:p>
        </p:txBody>
      </p:sp>
      <p:sp>
        <p:nvSpPr>
          <p:cNvPr id="3" name="TextBox 2"/>
          <p:cNvSpPr txBox="1"/>
          <p:nvPr/>
        </p:nvSpPr>
        <p:spPr>
          <a:xfrm>
            <a:off x="822960" y="777240"/>
            <a:ext cx="10241280" cy="1463040"/>
          </a:xfrm>
          <a:prstGeom prst="rect">
            <a:avLst/>
          </a:prstGeom>
          <a:noFill/>
        </p:spPr>
        <p:txBody>
          <a:bodyPr wrap="square">
            <a:spAutoFit/>
          </a:bodyPr>
          <a:lstStyle/>
          <a:p>
            <a:pPr algn="l"/>
            <a:r>
              <a:rPr sz="3600" b="1" i="0">
                <a:solidFill>
                  <a:srgbClr val="E8E8F0"/>
                </a:solidFill>
              </a:rPr>
              <a:t>Preprocessing</a:t>
            </a:r>
          </a:p>
          <a:p>
            <a:pPr algn="l"/>
            <a:r>
              <a:rPr sz="3600" b="1" i="0">
                <a:solidFill>
                  <a:srgbClr val="FF6060"/>
                </a:solidFill>
              </a:rPr>
              <a:t>Makes It Worse</a:t>
            </a:r>
          </a:p>
        </p:txBody>
      </p:sp>
      <p:sp>
        <p:nvSpPr>
          <p:cNvPr id="4" name="Rectangle 3"/>
          <p:cNvSpPr/>
          <p:nvPr/>
        </p:nvSpPr>
        <p:spPr>
          <a:xfrm>
            <a:off x="822960" y="1828800"/>
            <a:ext cx="5303520" cy="2971800"/>
          </a:xfrm>
          <a:prstGeom prst="rect">
            <a:avLst/>
          </a:prstGeom>
          <a:solidFill>
            <a:srgbClr val="12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75104"/>
            <a:ext cx="5303520" cy="201168"/>
          </a:xfrm>
          <a:prstGeom prst="rect">
            <a:avLst/>
          </a:prstGeom>
          <a:noFill/>
        </p:spPr>
        <p:txBody>
          <a:bodyPr wrap="square">
            <a:spAutoFit/>
          </a:bodyPr>
          <a:lstStyle/>
          <a:p>
            <a:pPr algn="l"/>
            <a:r>
              <a:rPr sz="900" b="1" i="0">
                <a:solidFill>
                  <a:srgbClr val="60B8FF"/>
                </a:solidFill>
              </a:rPr>
              <a:t>JPEG COMPRESSION   YOLOv8n patch - 48 images</a:t>
            </a:r>
          </a:p>
        </p:txBody>
      </p:sp>
      <p:sp>
        <p:nvSpPr>
          <p:cNvPr id="6" name="TextBox 5"/>
          <p:cNvSpPr txBox="1"/>
          <p:nvPr/>
        </p:nvSpPr>
        <p:spPr>
          <a:xfrm>
            <a:off x="1005840" y="2267712"/>
            <a:ext cx="4983480" cy="1691640"/>
          </a:xfrm>
          <a:prstGeom prst="rect">
            <a:avLst/>
          </a:prstGeom>
          <a:noFill/>
        </p:spPr>
        <p:txBody>
          <a:bodyPr wrap="square">
            <a:spAutoFit/>
          </a:bodyPr>
          <a:lstStyle/>
          <a:p>
            <a:pPr algn="l"/>
            <a:r>
              <a:rPr sz="1000" b="0" i="0">
                <a:solidFill>
                  <a:srgbClr val="888888"/>
                </a:solidFill>
              </a:rPr>
              <a:t>Quality        Suppression      vs. undefended</a:t>
            </a:r>
          </a:p>
          <a:p>
            <a:pPr algn="l"/>
            <a:r>
              <a:rPr sz="1200" b="0" i="0">
                <a:solidFill>
                  <a:srgbClr val="CCCCCC"/>
                </a:solidFill>
              </a:rPr>
              <a:t>none           85%              baseline</a:t>
            </a:r>
          </a:p>
          <a:p>
            <a:pPr algn="l"/>
            <a:r>
              <a:rPr sz="1200" b="0" i="0">
                <a:solidFill>
                  <a:srgbClr val="FF6060"/>
                </a:solidFill>
              </a:rPr>
              <a:t>95             95%              +10 pp</a:t>
            </a:r>
          </a:p>
          <a:p>
            <a:pPr algn="l"/>
            <a:r>
              <a:rPr sz="1200" b="0" i="0">
                <a:solidFill>
                  <a:srgbClr val="FF6060"/>
                </a:solidFill>
              </a:rPr>
              <a:t>85             90%              +5 pp</a:t>
            </a:r>
          </a:p>
          <a:p>
            <a:pPr algn="l"/>
            <a:r>
              <a:rPr sz="1200" b="0" i="0">
                <a:solidFill>
                  <a:srgbClr val="FF6060"/>
                </a:solidFill>
              </a:rPr>
              <a:t>75             90%              +5 pp</a:t>
            </a:r>
          </a:p>
          <a:p>
            <a:pPr algn="l"/>
            <a:r>
              <a:rPr sz="1200" b="0" i="0">
                <a:solidFill>
                  <a:srgbClr val="888888"/>
                </a:solidFill>
              </a:rPr>
              <a:t>50             80%              -5 pp (clean -29 pp)</a:t>
            </a:r>
          </a:p>
        </p:txBody>
      </p:sp>
      <p:sp>
        <p:nvSpPr>
          <p:cNvPr id="7" name="Rectangle 6"/>
          <p:cNvSpPr/>
          <p:nvPr/>
        </p:nvSpPr>
        <p:spPr>
          <a:xfrm>
            <a:off x="822960" y="4983480"/>
            <a:ext cx="5303520" cy="822960"/>
          </a:xfrm>
          <a:prstGeom prst="rect">
            <a:avLst/>
          </a:prstGeom>
          <a:solidFill>
            <a:srgbClr val="12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102352"/>
            <a:ext cx="5303520" cy="201168"/>
          </a:xfrm>
          <a:prstGeom prst="rect">
            <a:avLst/>
          </a:prstGeom>
          <a:noFill/>
        </p:spPr>
        <p:txBody>
          <a:bodyPr wrap="square">
            <a:spAutoFit/>
          </a:bodyPr>
          <a:lstStyle/>
          <a:p>
            <a:pPr algn="l"/>
            <a:r>
              <a:rPr sz="900" b="1" i="0">
                <a:solidFill>
                  <a:srgbClr val="60B8FF"/>
                </a:solidFill>
              </a:rPr>
              <a:t>CROP-RESIZE</a:t>
            </a:r>
          </a:p>
        </p:txBody>
      </p:sp>
      <p:sp>
        <p:nvSpPr>
          <p:cNvPr id="9" name="TextBox 8"/>
          <p:cNvSpPr txBox="1"/>
          <p:nvPr/>
        </p:nvSpPr>
        <p:spPr>
          <a:xfrm>
            <a:off x="1005840" y="5321808"/>
            <a:ext cx="4983480" cy="411480"/>
          </a:xfrm>
          <a:prstGeom prst="rect">
            <a:avLst/>
          </a:prstGeom>
          <a:noFill/>
        </p:spPr>
        <p:txBody>
          <a:bodyPr wrap="square">
            <a:spAutoFit/>
          </a:bodyPr>
          <a:lstStyle/>
          <a:p>
            <a:pPr algn="l"/>
            <a:r>
              <a:rPr sz="1100" b="0" i="0">
                <a:solidFill>
                  <a:srgbClr val="CCCCCC"/>
                </a:solidFill>
              </a:rPr>
              <a:t>High variance across seeds. No consistent reduction at 95% or 90% retention. Occasional reductions at 85% retention were unreliable and costly to clean detection rate.</a:t>
            </a:r>
          </a:p>
        </p:txBody>
      </p:sp>
      <p:sp>
        <p:nvSpPr>
          <p:cNvPr id="10" name="Rectangle 9"/>
          <p:cNvSpPr/>
          <p:nvPr/>
        </p:nvSpPr>
        <p:spPr>
          <a:xfrm>
            <a:off x="6537960" y="1828800"/>
            <a:ext cx="5303520" cy="2971800"/>
          </a:xfrm>
          <a:prstGeom prst="rect">
            <a:avLst/>
          </a:prstGeom>
          <a:solidFill>
            <a:srgbClr val="12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0840" y="1975104"/>
            <a:ext cx="5303520" cy="201168"/>
          </a:xfrm>
          <a:prstGeom prst="rect">
            <a:avLst/>
          </a:prstGeom>
          <a:noFill/>
        </p:spPr>
        <p:txBody>
          <a:bodyPr wrap="square">
            <a:spAutoFit/>
          </a:bodyPr>
          <a:lstStyle/>
          <a:p>
            <a:pPr algn="l"/>
            <a:r>
              <a:rPr sz="900" b="1" i="0">
                <a:solidFill>
                  <a:srgbClr val="60B8FF"/>
                </a:solidFill>
              </a:rPr>
              <a:t>GAUSSIAN BLUR</a:t>
            </a:r>
          </a:p>
        </p:txBody>
      </p:sp>
      <p:sp>
        <p:nvSpPr>
          <p:cNvPr id="12" name="TextBox 11"/>
          <p:cNvSpPr txBox="1"/>
          <p:nvPr/>
        </p:nvSpPr>
        <p:spPr>
          <a:xfrm>
            <a:off x="6720840" y="2267712"/>
            <a:ext cx="4983480" cy="1371600"/>
          </a:xfrm>
          <a:prstGeom prst="rect">
            <a:avLst/>
          </a:prstGeom>
          <a:noFill/>
        </p:spPr>
        <p:txBody>
          <a:bodyPr wrap="square">
            <a:spAutoFit/>
          </a:bodyPr>
          <a:lstStyle/>
          <a:p>
            <a:pPr algn="l"/>
            <a:r>
              <a:rPr sz="1000" b="0" i="0">
                <a:solidFill>
                  <a:srgbClr val="888888"/>
                </a:solidFill>
              </a:rPr>
              <a:t>Sigma          Suppression      vs. undefended</a:t>
            </a:r>
          </a:p>
          <a:p>
            <a:pPr algn="l"/>
            <a:r>
              <a:rPr sz="1200" b="0" i="0">
                <a:solidFill>
                  <a:srgbClr val="CCCCCC"/>
                </a:solidFill>
              </a:rPr>
              <a:t>none           85%              baseline</a:t>
            </a:r>
          </a:p>
          <a:p>
            <a:pPr algn="l"/>
            <a:r>
              <a:rPr sz="1200" b="0" i="0">
                <a:solidFill>
                  <a:srgbClr val="FF6060"/>
                </a:solidFill>
              </a:rPr>
              <a:t>1.0            90%              +5 pp</a:t>
            </a:r>
          </a:p>
          <a:p>
            <a:pPr algn="l"/>
            <a:r>
              <a:rPr sz="1200" b="0" i="0">
                <a:solidFill>
                  <a:srgbClr val="FF6060"/>
                </a:solidFill>
              </a:rPr>
              <a:t>2.0            100%             +15 pp</a:t>
            </a:r>
          </a:p>
          <a:p>
            <a:pPr algn="l"/>
            <a:r>
              <a:rPr sz="1200" b="0" i="0">
                <a:solidFill>
                  <a:srgbClr val="FF6060"/>
                </a:solidFill>
              </a:rPr>
              <a:t>3.0            95%              +10 pp</a:t>
            </a:r>
          </a:p>
        </p:txBody>
      </p:sp>
      <p:sp>
        <p:nvSpPr>
          <p:cNvPr id="13" name="Rectangle 12"/>
          <p:cNvSpPr/>
          <p:nvPr/>
        </p:nvSpPr>
        <p:spPr>
          <a:xfrm>
            <a:off x="6537960" y="4572000"/>
            <a:ext cx="5303520" cy="1234440"/>
          </a:xfrm>
          <a:prstGeom prst="rect">
            <a:avLst/>
          </a:prstGeom>
          <a:solidFill>
            <a:srgbClr val="0D1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20840" y="4709160"/>
            <a:ext cx="5303520" cy="201168"/>
          </a:xfrm>
          <a:prstGeom prst="rect">
            <a:avLst/>
          </a:prstGeom>
          <a:noFill/>
        </p:spPr>
        <p:txBody>
          <a:bodyPr wrap="square">
            <a:spAutoFit/>
          </a:bodyPr>
          <a:lstStyle/>
          <a:p>
            <a:pPr algn="l"/>
            <a:r>
              <a:rPr sz="900" b="1" i="0">
                <a:solidFill>
                  <a:srgbClr val="60B8FF"/>
                </a:solidFill>
              </a:rPr>
              <a:t>WHY</a:t>
            </a:r>
          </a:p>
        </p:txBody>
      </p:sp>
      <p:sp>
        <p:nvSpPr>
          <p:cNvPr id="15" name="TextBox 14"/>
          <p:cNvSpPr txBox="1"/>
          <p:nvPr/>
        </p:nvSpPr>
        <p:spPr>
          <a:xfrm>
            <a:off x="6720840" y="4937760"/>
            <a:ext cx="4983480" cy="640080"/>
          </a:xfrm>
          <a:prstGeom prst="rect">
            <a:avLst/>
          </a:prstGeom>
          <a:noFill/>
        </p:spPr>
        <p:txBody>
          <a:bodyPr wrap="square">
            <a:spAutoFit/>
          </a:bodyPr>
          <a:lstStyle/>
          <a:p>
            <a:pPr algn="l"/>
            <a:r>
              <a:rPr sz="1100" b="0" i="0">
                <a:solidFill>
                  <a:srgbClr val="CCCCCC"/>
                </a:solidFill>
              </a:rPr>
              <a:t>Adversarial patches concentrate signal in a dense region. Blur and compression suppress helpful clean texture while leaving the patch's dominant structure intact.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F"/>
        </a:solidFill>
        <a:effectLst/>
      </p:bgPr>
    </p:bg>
    <p:spTree>
      <p:nvGrpSpPr>
        <p:cNvPr id="1" name=""/>
        <p:cNvGrpSpPr/>
        <p:nvPr/>
      </p:nvGrpSpPr>
      <p:grpSpPr/>
      <p:sp>
        <p:nvSpPr>
          <p:cNvPr id="2" name="TextBox 1"/>
          <p:cNvSpPr txBox="1"/>
          <p:nvPr/>
        </p:nvSpPr>
        <p:spPr>
          <a:xfrm>
            <a:off x="822960" y="411480"/>
            <a:ext cx="3657600" cy="256032"/>
          </a:xfrm>
          <a:prstGeom prst="rect">
            <a:avLst/>
          </a:prstGeom>
          <a:noFill/>
        </p:spPr>
        <p:txBody>
          <a:bodyPr wrap="square">
            <a:spAutoFit/>
          </a:bodyPr>
          <a:lstStyle/>
          <a:p>
            <a:pPr algn="l"/>
            <a:r>
              <a:rPr sz="900" b="1" i="0">
                <a:solidFill>
                  <a:srgbClr val="60B8FF"/>
                </a:solidFill>
              </a:rPr>
              <a:t>ATTACK TRACK - ARCHITECTURAL FINDING</a:t>
            </a:r>
          </a:p>
        </p:txBody>
      </p:sp>
      <p:sp>
        <p:nvSpPr>
          <p:cNvPr id="3" name="TextBox 2"/>
          <p:cNvSpPr txBox="1"/>
          <p:nvPr/>
        </p:nvSpPr>
        <p:spPr>
          <a:xfrm>
            <a:off x="822960" y="777240"/>
            <a:ext cx="10241280" cy="1463040"/>
          </a:xfrm>
          <a:prstGeom prst="rect">
            <a:avLst/>
          </a:prstGeom>
          <a:noFill/>
        </p:spPr>
        <p:txBody>
          <a:bodyPr wrap="square">
            <a:spAutoFit/>
          </a:bodyPr>
          <a:lstStyle/>
          <a:p>
            <a:pPr algn="l"/>
            <a:r>
              <a:rPr sz="3600" b="1" i="0">
                <a:solidFill>
                  <a:srgbClr val="E8E8F0"/>
                </a:solidFill>
              </a:rPr>
              <a:t>The</a:t>
            </a:r>
          </a:p>
          <a:p>
            <a:pPr algn="l"/>
            <a:r>
              <a:rPr sz="3600" b="1" i="0">
                <a:solidFill>
                  <a:srgbClr val="FF6060"/>
                </a:solidFill>
              </a:rPr>
              <a:t>v26n Paradox</a:t>
            </a:r>
          </a:p>
        </p:txBody>
      </p:sp>
      <p:sp>
        <p:nvSpPr>
          <p:cNvPr id="4" name="Rectangle 3"/>
          <p:cNvSpPr/>
          <p:nvPr/>
        </p:nvSpPr>
        <p:spPr>
          <a:xfrm>
            <a:off x="822960" y="1828800"/>
            <a:ext cx="5212080" cy="1417320"/>
          </a:xfrm>
          <a:prstGeom prst="rect">
            <a:avLst/>
          </a:prstGeom>
          <a:solidFill>
            <a:srgbClr val="1A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65960"/>
            <a:ext cx="5212080" cy="201168"/>
          </a:xfrm>
          <a:prstGeom prst="rect">
            <a:avLst/>
          </a:prstGeom>
          <a:noFill/>
        </p:spPr>
        <p:txBody>
          <a:bodyPr wrap="square">
            <a:spAutoFit/>
          </a:bodyPr>
          <a:lstStyle/>
          <a:p>
            <a:pPr algn="l"/>
            <a:r>
              <a:rPr sz="900" b="1" i="0">
                <a:solidFill>
                  <a:srgbClr val="60B8FF"/>
                </a:solidFill>
              </a:rPr>
              <a:t>WHAT HAPPENED</a:t>
            </a:r>
          </a:p>
        </p:txBody>
      </p:sp>
      <p:sp>
        <p:nvSpPr>
          <p:cNvPr id="6" name="TextBox 5"/>
          <p:cNvSpPr txBox="1"/>
          <p:nvPr/>
        </p:nvSpPr>
        <p:spPr>
          <a:xfrm>
            <a:off x="1005840" y="2267712"/>
            <a:ext cx="4892040" cy="822960"/>
          </a:xfrm>
          <a:prstGeom prst="rect">
            <a:avLst/>
          </a:prstGeom>
          <a:noFill/>
        </p:spPr>
        <p:txBody>
          <a:bodyPr wrap="square">
            <a:spAutoFit/>
          </a:bodyPr>
          <a:lstStyle/>
          <a:p>
            <a:pPr algn="l"/>
            <a:r>
              <a:rPr sz="1200" b="0" i="0">
                <a:solidFill>
                  <a:srgbClr val="CCCCCC"/>
                </a:solidFill>
              </a:rPr>
              <a:t>The optimized objective converged on the scored head.</a:t>
            </a:r>
          </a:p>
          <a:p>
            <a:pPr algn="l"/>
            <a:r>
              <a:rPr sz="1200" b="0" i="0">
                <a:solidFill>
                  <a:srgbClr val="FF6060"/>
                </a:solidFill>
              </a:rPr>
              <a:t>final_det_loss = 0.108 on the one2many path.</a:t>
            </a:r>
          </a:p>
          <a:p>
            <a:pPr algn="l"/>
            <a:r>
              <a:rPr sz="1200" b="0" i="0">
                <a:solidFill>
                  <a:srgbClr val="CCCCCC"/>
                </a:solidFill>
              </a:rPr>
              <a:t>Suppression: only 16.3%.</a:t>
            </a:r>
          </a:p>
        </p:txBody>
      </p:sp>
      <p:sp>
        <p:nvSpPr>
          <p:cNvPr id="7" name="Rectangle 6"/>
          <p:cNvSpPr/>
          <p:nvPr/>
        </p:nvSpPr>
        <p:spPr>
          <a:xfrm>
            <a:off x="822960" y="3337560"/>
            <a:ext cx="5212080" cy="2148840"/>
          </a:xfrm>
          <a:prstGeom prst="rect">
            <a:avLst/>
          </a:prstGeom>
          <a:solidFill>
            <a:srgbClr val="0D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74720"/>
            <a:ext cx="5212080" cy="201168"/>
          </a:xfrm>
          <a:prstGeom prst="rect">
            <a:avLst/>
          </a:prstGeom>
          <a:noFill/>
        </p:spPr>
        <p:txBody>
          <a:bodyPr wrap="square">
            <a:spAutoFit/>
          </a:bodyPr>
          <a:lstStyle/>
          <a:p>
            <a:pPr algn="l"/>
            <a:r>
              <a:rPr sz="900" b="1" i="0">
                <a:solidFill>
                  <a:srgbClr val="60B8FF"/>
                </a:solidFill>
              </a:rPr>
              <a:t>ROOT CAUSE</a:t>
            </a:r>
          </a:p>
        </p:txBody>
      </p:sp>
      <p:sp>
        <p:nvSpPr>
          <p:cNvPr id="9" name="TextBox 8"/>
          <p:cNvSpPr txBox="1"/>
          <p:nvPr/>
        </p:nvSpPr>
        <p:spPr>
          <a:xfrm>
            <a:off x="1005840" y="3730752"/>
            <a:ext cx="4892040" cy="320040"/>
          </a:xfrm>
          <a:prstGeom prst="rect">
            <a:avLst/>
          </a:prstGeom>
          <a:noFill/>
        </p:spPr>
        <p:txBody>
          <a:bodyPr wrap="square">
            <a:spAutoFit/>
          </a:bodyPr>
          <a:lstStyle/>
          <a:p>
            <a:pPr algn="l"/>
            <a:r>
              <a:rPr sz="1200" b="0" i="0">
                <a:solidFill>
                  <a:srgbClr val="CCCCCC"/>
                </a:solidFill>
              </a:rPr>
              <a:t>YOLO26n uses end-to-end Hungarian matching (head_end2end: true).</a:t>
            </a:r>
          </a:p>
        </p:txBody>
      </p:sp>
      <p:sp>
        <p:nvSpPr>
          <p:cNvPr id="10" name="TextBox 9"/>
          <p:cNvSpPr txBox="1"/>
          <p:nvPr/>
        </p:nvSpPr>
        <p:spPr>
          <a:xfrm>
            <a:off x="1005840" y="4160520"/>
            <a:ext cx="4892040" cy="914400"/>
          </a:xfrm>
          <a:prstGeom prst="rect">
            <a:avLst/>
          </a:prstGeom>
          <a:noFill/>
        </p:spPr>
        <p:txBody>
          <a:bodyPr wrap="square">
            <a:spAutoFit/>
          </a:bodyPr>
          <a:lstStyle/>
          <a:p>
            <a:pPr algn="l"/>
            <a:r>
              <a:rPr sz="1200" b="0" i="0">
                <a:solidFill>
                  <a:srgbClr val="CCCCCC"/>
                </a:solidFill>
              </a:rPr>
              <a:t>- Training optimizes the one2many auxiliary head</a:t>
            </a:r>
          </a:p>
          <a:p>
            <a:pPr algn="l"/>
            <a:r>
              <a:rPr sz="1200" b="0" i="0">
                <a:solidFill>
                  <a:srgbClr val="CCCCCC"/>
                </a:solidFill>
              </a:rPr>
              <a:t>- Inference uses the one2one head for final detections</a:t>
            </a:r>
          </a:p>
          <a:p>
            <a:pPr algn="l"/>
            <a:r>
              <a:rPr sz="1200" b="0" i="0">
                <a:solidFill>
                  <a:srgbClr val="CCCCCC"/>
                </a:solidFill>
              </a:rPr>
              <a:t>- These heads are architecturally separate</a:t>
            </a:r>
          </a:p>
        </p:txBody>
      </p:sp>
      <p:sp>
        <p:nvSpPr>
          <p:cNvPr id="11" name="Rectangle 10"/>
          <p:cNvSpPr/>
          <p:nvPr/>
        </p:nvSpPr>
        <p:spPr>
          <a:xfrm>
            <a:off x="6400800" y="1828800"/>
            <a:ext cx="5212080" cy="1874519"/>
          </a:xfrm>
          <a:prstGeom prst="rect">
            <a:avLst/>
          </a:prstGeom>
          <a:solidFill>
            <a:srgbClr val="12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1965960"/>
            <a:ext cx="5212080" cy="201168"/>
          </a:xfrm>
          <a:prstGeom prst="rect">
            <a:avLst/>
          </a:prstGeom>
          <a:noFill/>
        </p:spPr>
        <p:txBody>
          <a:bodyPr wrap="square">
            <a:spAutoFit/>
          </a:bodyPr>
          <a:lstStyle/>
          <a:p>
            <a:pPr algn="l"/>
            <a:r>
              <a:rPr sz="900" b="1" i="0">
                <a:solidFill>
                  <a:srgbClr val="60B8FF"/>
                </a:solidFill>
              </a:rPr>
              <a:t>THREE EXPERIMENTS - SAME ANSWER</a:t>
            </a:r>
          </a:p>
        </p:txBody>
      </p:sp>
      <p:sp>
        <p:nvSpPr>
          <p:cNvPr id="13" name="TextBox 12"/>
          <p:cNvSpPr txBox="1"/>
          <p:nvPr/>
        </p:nvSpPr>
        <p:spPr>
          <a:xfrm>
            <a:off x="6583680" y="2286000"/>
            <a:ext cx="4892040" cy="1097280"/>
          </a:xfrm>
          <a:prstGeom prst="rect">
            <a:avLst/>
          </a:prstGeom>
          <a:noFill/>
        </p:spPr>
        <p:txBody>
          <a:bodyPr wrap="square">
            <a:spAutoFit/>
          </a:bodyPr>
          <a:lstStyle/>
          <a:p>
            <a:pPr algn="l"/>
            <a:r>
              <a:rPr sz="1000" b="0" i="0">
                <a:solidFill>
                  <a:srgbClr val="888888"/>
                </a:solidFill>
              </a:rPr>
              <a:t>Experiment                            Loss      Suppression</a:t>
            </a:r>
          </a:p>
          <a:p>
            <a:pPr algn="l"/>
            <a:r>
              <a:rPr sz="1200" b="0" i="0">
                <a:solidFill>
                  <a:srgbClr val="CCCCCC"/>
                </a:solidFill>
              </a:rPr>
              <a:t>Cold start - one2many loss           0.108     16.3%</a:t>
            </a:r>
          </a:p>
          <a:p>
            <a:pPr algn="l"/>
            <a:r>
              <a:rPr sz="1200" b="0" i="0">
                <a:solidFill>
                  <a:srgbClr val="CCCCCC"/>
                </a:solidFill>
              </a:rPr>
              <a:t>Warm start from v8n 90% patch        0.103     14.0%</a:t>
            </a:r>
          </a:p>
          <a:p>
            <a:pPr algn="l"/>
            <a:r>
              <a:rPr sz="1200" b="0" i="0">
                <a:solidFill>
                  <a:srgbClr val="CCCCCC"/>
                </a:solidFill>
              </a:rPr>
              <a:t>Cold start - one2one loss            0.094     11.6%</a:t>
            </a:r>
          </a:p>
        </p:txBody>
      </p:sp>
      <p:sp>
        <p:nvSpPr>
          <p:cNvPr id="14" name="TextBox 13"/>
          <p:cNvSpPr txBox="1"/>
          <p:nvPr/>
        </p:nvSpPr>
        <p:spPr>
          <a:xfrm>
            <a:off x="6583680" y="3401568"/>
            <a:ext cx="4892040" cy="228600"/>
          </a:xfrm>
          <a:prstGeom prst="rect">
            <a:avLst/>
          </a:prstGeom>
          <a:noFill/>
        </p:spPr>
        <p:txBody>
          <a:bodyPr wrap="square">
            <a:spAutoFit/>
          </a:bodyPr>
          <a:lstStyle/>
          <a:p>
            <a:pPr algn="l"/>
            <a:r>
              <a:rPr sz="1000" b="0" i="0">
                <a:solidFill>
                  <a:srgbClr val="888888"/>
                </a:solidFill>
              </a:rPr>
              <a:t>Better objective convergence -&gt; less suppression. The relationship is inverted.</a:t>
            </a:r>
          </a:p>
        </p:txBody>
      </p:sp>
      <p:sp>
        <p:nvSpPr>
          <p:cNvPr id="15" name="Rectangle 14"/>
          <p:cNvSpPr/>
          <p:nvPr/>
        </p:nvSpPr>
        <p:spPr>
          <a:xfrm>
            <a:off x="6400800" y="3840480"/>
            <a:ext cx="5212080" cy="1645920"/>
          </a:xfrm>
          <a:prstGeom prst="rect">
            <a:avLst/>
          </a:prstGeom>
          <a:solidFill>
            <a:srgbClr val="0D1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3977639"/>
            <a:ext cx="5212080" cy="201168"/>
          </a:xfrm>
          <a:prstGeom prst="rect">
            <a:avLst/>
          </a:prstGeom>
          <a:noFill/>
        </p:spPr>
        <p:txBody>
          <a:bodyPr wrap="square">
            <a:spAutoFit/>
          </a:bodyPr>
          <a:lstStyle/>
          <a:p>
            <a:pPr algn="l"/>
            <a:r>
              <a:rPr sz="900" b="1" i="0">
                <a:solidFill>
                  <a:srgbClr val="60B8FF"/>
                </a:solidFill>
              </a:rPr>
              <a:t>CONCLUSION</a:t>
            </a:r>
          </a:p>
        </p:txBody>
      </p:sp>
      <p:sp>
        <p:nvSpPr>
          <p:cNvPr id="17" name="TextBox 16"/>
          <p:cNvSpPr txBox="1"/>
          <p:nvPr/>
        </p:nvSpPr>
        <p:spPr>
          <a:xfrm>
            <a:off x="6583680" y="4279392"/>
            <a:ext cx="4892040" cy="914400"/>
          </a:xfrm>
          <a:prstGeom prst="rect">
            <a:avLst/>
          </a:prstGeom>
          <a:noFill/>
        </p:spPr>
        <p:txBody>
          <a:bodyPr wrap="square">
            <a:spAutoFit/>
          </a:bodyPr>
          <a:lstStyle/>
          <a:p>
            <a:pPr algn="l"/>
            <a:r>
              <a:rPr sz="1200" b="0" i="0">
                <a:solidFill>
                  <a:srgbClr val="CCCCCC"/>
                </a:solidFill>
              </a:rPr>
              <a:t>YOLO26n shows strong resistance to this attack class in the current setup. The matching architecture decouples the optimized objective from the inference path, so targeting either head in isolation did not break through.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F"/>
        </a:solidFill>
        <a:effectLst/>
      </p:bgPr>
    </p:bg>
    <p:spTree>
      <p:nvGrpSpPr>
        <p:cNvPr id="1" name=""/>
        <p:cNvGrpSpPr/>
        <p:nvPr/>
      </p:nvGrpSpPr>
      <p:grpSpPr/>
      <p:sp>
        <p:nvSpPr>
          <p:cNvPr id="2" name="TextBox 1"/>
          <p:cNvSpPr txBox="1"/>
          <p:nvPr/>
        </p:nvSpPr>
        <p:spPr>
          <a:xfrm>
            <a:off x="822960" y="411480"/>
            <a:ext cx="3657600" cy="256032"/>
          </a:xfrm>
          <a:prstGeom prst="rect">
            <a:avLst/>
          </a:prstGeom>
          <a:noFill/>
        </p:spPr>
        <p:txBody>
          <a:bodyPr wrap="square">
            <a:spAutoFit/>
          </a:bodyPr>
          <a:lstStyle/>
          <a:p>
            <a:pPr algn="l"/>
            <a:r>
              <a:rPr sz="900" b="1" i="0">
                <a:solidFill>
                  <a:srgbClr val="60B8FF"/>
                </a:solidFill>
              </a:rPr>
              <a:t>DEFENSE TRACK - FINDINGS</a:t>
            </a:r>
          </a:p>
        </p:txBody>
      </p:sp>
      <p:sp>
        <p:nvSpPr>
          <p:cNvPr id="3" name="TextBox 2"/>
          <p:cNvSpPr txBox="1"/>
          <p:nvPr/>
        </p:nvSpPr>
        <p:spPr>
          <a:xfrm>
            <a:off x="822960" y="777240"/>
            <a:ext cx="10241280" cy="1463040"/>
          </a:xfrm>
          <a:prstGeom prst="rect">
            <a:avLst/>
          </a:prstGeom>
          <a:noFill/>
        </p:spPr>
        <p:txBody>
          <a:bodyPr wrap="square">
            <a:spAutoFit/>
          </a:bodyPr>
          <a:lstStyle/>
          <a:p>
            <a:pPr algn="l"/>
            <a:r>
              <a:rPr sz="3800" b="1" i="0">
                <a:solidFill>
                  <a:srgbClr val="E8E8F0"/>
                </a:solidFill>
              </a:rPr>
              <a:t>Automated</a:t>
            </a:r>
          </a:p>
          <a:p>
            <a:pPr algn="l"/>
            <a:r>
              <a:rPr sz="3800" b="1" i="0">
                <a:solidFill>
                  <a:srgbClr val="60B8FF"/>
                </a:solidFill>
              </a:rPr>
              <a:t>Arms Race</a:t>
            </a:r>
          </a:p>
        </p:txBody>
      </p:sp>
      <p:sp>
        <p:nvSpPr>
          <p:cNvPr id="4" name="TextBox 3"/>
          <p:cNvSpPr txBox="1"/>
          <p:nvPr/>
        </p:nvSpPr>
        <p:spPr>
          <a:xfrm>
            <a:off x="822960" y="1828800"/>
            <a:ext cx="5303520" cy="731520"/>
          </a:xfrm>
          <a:prstGeom prst="rect">
            <a:avLst/>
          </a:prstGeom>
          <a:noFill/>
        </p:spPr>
        <p:txBody>
          <a:bodyPr wrap="square">
            <a:spAutoFit/>
          </a:bodyPr>
          <a:lstStyle/>
          <a:p>
            <a:pPr algn="l"/>
            <a:r>
              <a:rPr sz="1300" b="0" i="0">
                <a:solidFill>
                  <a:srgbClr val="CCCCCC"/>
                </a:solidFill>
              </a:rPr>
              <a:t>YOLO-Bad-Triangle framework: 22 automated cycles of optimized attacks versus optimized defenses. Attacks: square, DeepFool, dispersion reduction. Defenses: JPEG, median filter, bit-depth reduction, c_dog.</a:t>
            </a:r>
          </a:p>
        </p:txBody>
      </p:sp>
      <p:sp>
        <p:nvSpPr>
          <p:cNvPr id="5" name="Rectangle 4"/>
          <p:cNvSpPr/>
          <p:nvPr/>
        </p:nvSpPr>
        <p:spPr>
          <a:xfrm>
            <a:off x="822960" y="2651760"/>
            <a:ext cx="5303520" cy="1554480"/>
          </a:xfrm>
          <a:prstGeom prst="rect">
            <a:avLst/>
          </a:prstGeom>
          <a:solidFill>
            <a:srgbClr val="12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926080"/>
            <a:ext cx="4937760" cy="914400"/>
          </a:xfrm>
          <a:prstGeom prst="rect">
            <a:avLst/>
          </a:prstGeom>
          <a:noFill/>
        </p:spPr>
        <p:txBody>
          <a:bodyPr wrap="square">
            <a:spAutoFit/>
          </a:bodyPr>
          <a:lstStyle/>
          <a:p>
            <a:pPr algn="l"/>
            <a:r>
              <a:rPr sz="1000" b="0" i="0">
                <a:solidFill>
                  <a:srgbClr val="888888"/>
                </a:solidFill>
              </a:rPr>
              <a:t>Config                                   mAP50      vs clean</a:t>
            </a:r>
          </a:p>
          <a:p>
            <a:pPr algn="l"/>
            <a:r>
              <a:rPr sz="1200" b="0" i="0">
                <a:solidFill>
                  <a:srgbClr val="3EFFA0"/>
                </a:solidFill>
              </a:rPr>
              <a:t>Clean baseline                           0.600      -</a:t>
            </a:r>
          </a:p>
          <a:p>
            <a:pPr algn="l"/>
            <a:r>
              <a:rPr sz="1200" b="0" i="0">
                <a:solidFill>
                  <a:srgbClr val="FF6060"/>
                </a:solidFill>
              </a:rPr>
              <a:t>Best attack   dispersion_reduction       0.238      -60%</a:t>
            </a:r>
          </a:p>
          <a:p>
            <a:pPr algn="l"/>
            <a:r>
              <a:rPr sz="1200" b="0" i="0">
                <a:solidFill>
                  <a:srgbClr val="FFE066"/>
                </a:solidFill>
              </a:rPr>
              <a:t>Best defense  square + c_dog             0.394      -34%</a:t>
            </a:r>
          </a:p>
        </p:txBody>
      </p:sp>
      <p:sp>
        <p:nvSpPr>
          <p:cNvPr id="7" name="Rectangle 6"/>
          <p:cNvSpPr/>
          <p:nvPr/>
        </p:nvSpPr>
        <p:spPr>
          <a:xfrm>
            <a:off x="6537960" y="1828800"/>
            <a:ext cx="4800600" cy="1920240"/>
          </a:xfrm>
          <a:prstGeom prst="rect">
            <a:avLst/>
          </a:prstGeom>
          <a:solidFill>
            <a:srgbClr val="0D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20840" y="1965960"/>
            <a:ext cx="4389120" cy="201168"/>
          </a:xfrm>
          <a:prstGeom prst="rect">
            <a:avLst/>
          </a:prstGeom>
          <a:noFill/>
        </p:spPr>
        <p:txBody>
          <a:bodyPr wrap="square">
            <a:spAutoFit/>
          </a:bodyPr>
          <a:lstStyle/>
          <a:p>
            <a:pPr algn="l"/>
            <a:r>
              <a:rPr sz="900" b="1" i="0">
                <a:solidFill>
                  <a:srgbClr val="60B8FF"/>
                </a:solidFill>
              </a:rPr>
              <a:t>ADVERSARIAL FINETUNING</a:t>
            </a:r>
          </a:p>
        </p:txBody>
      </p:sp>
      <p:sp>
        <p:nvSpPr>
          <p:cNvPr id="9" name="TextBox 8"/>
          <p:cNvSpPr txBox="1"/>
          <p:nvPr/>
        </p:nvSpPr>
        <p:spPr>
          <a:xfrm>
            <a:off x="6720840" y="2267712"/>
            <a:ext cx="4480560" cy="731520"/>
          </a:xfrm>
          <a:prstGeom prst="rect">
            <a:avLst/>
          </a:prstGeom>
          <a:noFill/>
        </p:spPr>
        <p:txBody>
          <a:bodyPr wrap="square">
            <a:spAutoFit/>
          </a:bodyPr>
          <a:lstStyle/>
          <a:p>
            <a:pPr algn="l"/>
            <a:r>
              <a:rPr sz="1200" b="0" i="0">
                <a:solidFill>
                  <a:srgbClr val="CCCCCC"/>
                </a:solidFill>
              </a:rPr>
              <a:t>DPC-UNet detector finetuned on adversarial examples (square x5 oversample + DeepFool + blur pairs). Deployed only after the clean A/B gate.</a:t>
            </a:r>
          </a:p>
        </p:txBody>
      </p:sp>
      <p:sp>
        <p:nvSpPr>
          <p:cNvPr id="10" name="TextBox 9"/>
          <p:cNvSpPr txBox="1"/>
          <p:nvPr/>
        </p:nvSpPr>
        <p:spPr>
          <a:xfrm>
            <a:off x="6720840" y="3063240"/>
            <a:ext cx="4480560" cy="502920"/>
          </a:xfrm>
          <a:prstGeom prst="rect">
            <a:avLst/>
          </a:prstGeom>
          <a:noFill/>
        </p:spPr>
        <p:txBody>
          <a:bodyPr wrap="square">
            <a:spAutoFit/>
          </a:bodyPr>
          <a:lstStyle/>
          <a:p>
            <a:pPr algn="l"/>
            <a:r>
              <a:rPr sz="1200" b="0" i="0">
                <a:solidFill>
                  <a:srgbClr val="CCCCCC"/>
                </a:solidFill>
              </a:rPr>
              <a:t>- Clean performance: +0.003 mAP50 - no regression</a:t>
            </a:r>
          </a:p>
          <a:p>
            <a:pPr algn="l"/>
            <a:r>
              <a:rPr sz="1200" b="0" i="0">
                <a:solidFill>
                  <a:srgbClr val="CCCCCC"/>
                </a:solidFill>
              </a:rPr>
              <a:t>- Attack resistance: delta within noise - no measurable gain yet</a:t>
            </a:r>
          </a:p>
        </p:txBody>
      </p:sp>
      <p:sp>
        <p:nvSpPr>
          <p:cNvPr id="11" name="Rectangle 10"/>
          <p:cNvSpPr/>
          <p:nvPr/>
        </p:nvSpPr>
        <p:spPr>
          <a:xfrm>
            <a:off x="6537960" y="4069080"/>
            <a:ext cx="4800600" cy="1417320"/>
          </a:xfrm>
          <a:prstGeom prst="rect">
            <a:avLst/>
          </a:prstGeom>
          <a:solidFill>
            <a:srgbClr val="0D1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20840" y="4206240"/>
            <a:ext cx="4389120" cy="201168"/>
          </a:xfrm>
          <a:prstGeom prst="rect">
            <a:avLst/>
          </a:prstGeom>
          <a:noFill/>
        </p:spPr>
        <p:txBody>
          <a:bodyPr wrap="square">
            <a:spAutoFit/>
          </a:bodyPr>
          <a:lstStyle/>
          <a:p>
            <a:pPr algn="l"/>
            <a:r>
              <a:rPr sz="900" b="1" i="0">
                <a:solidFill>
                  <a:srgbClr val="60B8FF"/>
                </a:solidFill>
              </a:rPr>
              <a:t>STATE OF PLAY</a:t>
            </a:r>
          </a:p>
        </p:txBody>
      </p:sp>
      <p:sp>
        <p:nvSpPr>
          <p:cNvPr id="13" name="TextBox 12"/>
          <p:cNvSpPr txBox="1"/>
          <p:nvPr/>
        </p:nvSpPr>
        <p:spPr>
          <a:xfrm>
            <a:off x="6720840" y="4507992"/>
            <a:ext cx="4480560" cy="749808"/>
          </a:xfrm>
          <a:prstGeom prst="rect">
            <a:avLst/>
          </a:prstGeom>
          <a:noFill/>
        </p:spPr>
        <p:txBody>
          <a:bodyPr wrap="square">
            <a:spAutoFit/>
          </a:bodyPr>
          <a:lstStyle/>
          <a:p>
            <a:pPr algn="l"/>
            <a:r>
              <a:rPr sz="1200" b="0" i="0">
                <a:solidFill>
                  <a:srgbClr val="CCCCCC"/>
                </a:solidFill>
              </a:rPr>
              <a:t>Defenses partially recover attacked performance - from -60% to -34%. Finetuning is clean-safe but has not moved the needle on robustness yet. The arms race is still live.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F"/>
        </a:solidFill>
        <a:effectLst/>
      </p:bgPr>
    </p:bg>
    <p:spTree>
      <p:nvGrpSpPr>
        <p:cNvPr id="1" name=""/>
        <p:cNvGrpSpPr/>
        <p:nvPr/>
      </p:nvGrpSpPr>
      <p:grpSpPr/>
      <p:sp>
        <p:nvSpPr>
          <p:cNvPr id="2" name="TextBox 1"/>
          <p:cNvSpPr txBox="1"/>
          <p:nvPr/>
        </p:nvSpPr>
        <p:spPr>
          <a:xfrm>
            <a:off x="822960" y="411480"/>
            <a:ext cx="3657600" cy="256032"/>
          </a:xfrm>
          <a:prstGeom prst="rect">
            <a:avLst/>
          </a:prstGeom>
          <a:noFill/>
        </p:spPr>
        <p:txBody>
          <a:bodyPr wrap="square">
            <a:spAutoFit/>
          </a:bodyPr>
          <a:lstStyle/>
          <a:p>
            <a:pPr algn="l"/>
            <a:r>
              <a:rPr sz="900" b="1" i="0">
                <a:solidFill>
                  <a:srgbClr val="60B8FF"/>
                </a:solidFill>
              </a:rPr>
              <a:t>DEFENSE TRACK - METHODOLOGY</a:t>
            </a:r>
          </a:p>
        </p:txBody>
      </p:sp>
      <p:sp>
        <p:nvSpPr>
          <p:cNvPr id="3" name="TextBox 2"/>
          <p:cNvSpPr txBox="1"/>
          <p:nvPr/>
        </p:nvSpPr>
        <p:spPr>
          <a:xfrm>
            <a:off x="822960" y="777240"/>
            <a:ext cx="10241280" cy="1463040"/>
          </a:xfrm>
          <a:prstGeom prst="rect">
            <a:avLst/>
          </a:prstGeom>
          <a:noFill/>
        </p:spPr>
        <p:txBody>
          <a:bodyPr wrap="square">
            <a:spAutoFit/>
          </a:bodyPr>
          <a:lstStyle/>
          <a:p>
            <a:pPr algn="l"/>
            <a:r>
              <a:rPr sz="3800" b="1" i="0">
                <a:solidFill>
                  <a:srgbClr val="E8E8F0"/>
                </a:solidFill>
              </a:rPr>
              <a:t>Arms Race</a:t>
            </a:r>
          </a:p>
          <a:p>
            <a:pPr algn="l"/>
            <a:r>
              <a:rPr sz="3800" b="1" i="0">
                <a:solidFill>
                  <a:srgbClr val="60B8FF"/>
                </a:solidFill>
              </a:rPr>
              <a:t>Engineering</a:t>
            </a:r>
          </a:p>
        </p:txBody>
      </p:sp>
      <p:sp>
        <p:nvSpPr>
          <p:cNvPr id="4" name="Rectangle 3"/>
          <p:cNvSpPr/>
          <p:nvPr/>
        </p:nvSpPr>
        <p:spPr>
          <a:xfrm>
            <a:off x="822960" y="1828800"/>
            <a:ext cx="5303520" cy="3840480"/>
          </a:xfrm>
          <a:prstGeom prst="rect">
            <a:avLst/>
          </a:prstGeom>
          <a:solidFill>
            <a:srgbClr val="0D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65960"/>
            <a:ext cx="4937760" cy="201168"/>
          </a:xfrm>
          <a:prstGeom prst="rect">
            <a:avLst/>
          </a:prstGeom>
          <a:noFill/>
        </p:spPr>
        <p:txBody>
          <a:bodyPr wrap="square">
            <a:spAutoFit/>
          </a:bodyPr>
          <a:lstStyle/>
          <a:p>
            <a:pPr algn="l"/>
            <a:r>
              <a:rPr sz="900" b="1" i="0">
                <a:solidFill>
                  <a:srgbClr val="60B8FF"/>
                </a:solidFill>
              </a:rPr>
              <a:t>22-CYCLE AUTOMATION PIPELINE</a:t>
            </a:r>
          </a:p>
        </p:txBody>
      </p:sp>
      <p:sp>
        <p:nvSpPr>
          <p:cNvPr id="6" name="TextBox 5"/>
          <p:cNvSpPr txBox="1"/>
          <p:nvPr/>
        </p:nvSpPr>
        <p:spPr>
          <a:xfrm>
            <a:off x="1005840" y="2331720"/>
            <a:ext cx="4937760" cy="1645920"/>
          </a:xfrm>
          <a:prstGeom prst="rect">
            <a:avLst/>
          </a:prstGeom>
          <a:noFill/>
        </p:spPr>
        <p:txBody>
          <a:bodyPr wrap="square">
            <a:spAutoFit/>
          </a:bodyPr>
          <a:lstStyle/>
          <a:p>
            <a:pPr algn="l"/>
            <a:r>
              <a:rPr sz="1200" b="0" i="0">
                <a:solidFill>
                  <a:srgbClr val="CCCCCC"/>
                </a:solidFill>
              </a:rPr>
              <a:t>- Phase 1 - Attack: optimize patch hyperparameters against the current model; record mAP50 drop</a:t>
            </a:r>
          </a:p>
          <a:p>
            <a:pPr algn="l"/>
            <a:r>
              <a:rPr sz="1200" b="0" i="0">
                <a:solidFill>
                  <a:srgbClr val="CCCCCC"/>
                </a:solidFill>
              </a:rPr>
              <a:t>- Phase 2 - Defense: tune preprocessing or learned denoiser against the best attack; record mAP50 recovery</a:t>
            </a:r>
          </a:p>
          <a:p>
            <a:pPr algn="l"/>
            <a:r>
              <a:rPr sz="1200" b="0" i="0">
                <a:solidFill>
                  <a:srgbClr val="CCCCCC"/>
                </a:solidFill>
              </a:rPr>
              <a:t>- Phase 3 - Gate + report: deploy only if clean mAP50 stays at or above baseline; emit schema-enforced JSON</a:t>
            </a:r>
          </a:p>
        </p:txBody>
      </p:sp>
      <p:sp>
        <p:nvSpPr>
          <p:cNvPr id="7" name="TextBox 6"/>
          <p:cNvSpPr txBox="1"/>
          <p:nvPr/>
        </p:nvSpPr>
        <p:spPr>
          <a:xfrm>
            <a:off x="1005840" y="4069080"/>
            <a:ext cx="4937760" cy="411480"/>
          </a:xfrm>
          <a:prstGeom prst="rect">
            <a:avLst/>
          </a:prstGeom>
          <a:noFill/>
        </p:spPr>
        <p:txBody>
          <a:bodyPr wrap="square">
            <a:spAutoFit/>
          </a:bodyPr>
          <a:lstStyle/>
          <a:p>
            <a:pPr algn="l"/>
            <a:r>
              <a:rPr sz="1200" b="0" i="0">
                <a:solidFill>
                  <a:srgbClr val="CCCCCC"/>
                </a:solidFill>
              </a:rPr>
              <a:t>Each cycle produces a provenance-tracked artifact: attack config, defense config, before/after mAP50. No manual bookkeeping.</a:t>
            </a:r>
          </a:p>
        </p:txBody>
      </p:sp>
      <p:sp>
        <p:nvSpPr>
          <p:cNvPr id="8" name="TextBox 7"/>
          <p:cNvSpPr txBox="1"/>
          <p:nvPr/>
        </p:nvSpPr>
        <p:spPr>
          <a:xfrm>
            <a:off x="1188720" y="4754880"/>
            <a:ext cx="914400" cy="365760"/>
          </a:xfrm>
          <a:prstGeom prst="rect">
            <a:avLst/>
          </a:prstGeom>
          <a:noFill/>
        </p:spPr>
        <p:txBody>
          <a:bodyPr wrap="square">
            <a:spAutoFit/>
          </a:bodyPr>
          <a:lstStyle/>
          <a:p>
            <a:pPr algn="ctr"/>
            <a:r>
              <a:rPr sz="2400" b="1" i="0">
                <a:solidFill>
                  <a:srgbClr val="3EFFA0"/>
                </a:solidFill>
              </a:rPr>
              <a:t>22</a:t>
            </a:r>
          </a:p>
        </p:txBody>
      </p:sp>
      <p:sp>
        <p:nvSpPr>
          <p:cNvPr id="9" name="TextBox 8"/>
          <p:cNvSpPr txBox="1"/>
          <p:nvPr/>
        </p:nvSpPr>
        <p:spPr>
          <a:xfrm>
            <a:off x="2788920" y="4754880"/>
            <a:ext cx="914400" cy="365760"/>
          </a:xfrm>
          <a:prstGeom prst="rect">
            <a:avLst/>
          </a:prstGeom>
          <a:noFill/>
        </p:spPr>
        <p:txBody>
          <a:bodyPr wrap="square">
            <a:spAutoFit/>
          </a:bodyPr>
          <a:lstStyle/>
          <a:p>
            <a:pPr algn="ctr"/>
            <a:r>
              <a:rPr sz="2400" b="1" i="0">
                <a:solidFill>
                  <a:srgbClr val="60B8FF"/>
                </a:solidFill>
              </a:rPr>
              <a:t>4</a:t>
            </a:r>
          </a:p>
        </p:txBody>
      </p:sp>
      <p:sp>
        <p:nvSpPr>
          <p:cNvPr id="10" name="TextBox 9"/>
          <p:cNvSpPr txBox="1"/>
          <p:nvPr/>
        </p:nvSpPr>
        <p:spPr>
          <a:xfrm>
            <a:off x="4343400" y="4754880"/>
            <a:ext cx="914400" cy="365760"/>
          </a:xfrm>
          <a:prstGeom prst="rect">
            <a:avLst/>
          </a:prstGeom>
          <a:noFill/>
        </p:spPr>
        <p:txBody>
          <a:bodyPr wrap="square">
            <a:spAutoFit/>
          </a:bodyPr>
          <a:lstStyle/>
          <a:p>
            <a:pPr algn="ctr"/>
            <a:r>
              <a:rPr sz="2400" b="1" i="0">
                <a:solidFill>
                  <a:srgbClr val="FFE066"/>
                </a:solidFill>
              </a:rPr>
              <a:t>3</a:t>
            </a:r>
          </a:p>
        </p:txBody>
      </p:sp>
      <p:sp>
        <p:nvSpPr>
          <p:cNvPr id="11" name="TextBox 10"/>
          <p:cNvSpPr txBox="1"/>
          <p:nvPr/>
        </p:nvSpPr>
        <p:spPr>
          <a:xfrm>
            <a:off x="1143000" y="5102352"/>
            <a:ext cx="1005840" cy="182880"/>
          </a:xfrm>
          <a:prstGeom prst="rect">
            <a:avLst/>
          </a:prstGeom>
          <a:noFill/>
        </p:spPr>
        <p:txBody>
          <a:bodyPr wrap="square">
            <a:spAutoFit/>
          </a:bodyPr>
          <a:lstStyle/>
          <a:p>
            <a:pPr algn="ctr"/>
            <a:r>
              <a:rPr sz="900" b="0" i="0">
                <a:solidFill>
                  <a:srgbClr val="888888"/>
                </a:solidFill>
              </a:rPr>
              <a:t>cycles run</a:t>
            </a:r>
          </a:p>
        </p:txBody>
      </p:sp>
      <p:sp>
        <p:nvSpPr>
          <p:cNvPr id="12" name="TextBox 11"/>
          <p:cNvSpPr txBox="1"/>
          <p:nvPr/>
        </p:nvSpPr>
        <p:spPr>
          <a:xfrm>
            <a:off x="2606040" y="5102352"/>
            <a:ext cx="1280160" cy="182880"/>
          </a:xfrm>
          <a:prstGeom prst="rect">
            <a:avLst/>
          </a:prstGeom>
          <a:noFill/>
        </p:spPr>
        <p:txBody>
          <a:bodyPr wrap="square">
            <a:spAutoFit/>
          </a:bodyPr>
          <a:lstStyle/>
          <a:p>
            <a:pPr algn="ctr"/>
            <a:r>
              <a:rPr sz="900" b="0" i="0">
                <a:solidFill>
                  <a:srgbClr val="888888"/>
                </a:solidFill>
              </a:rPr>
              <a:t>defense types</a:t>
            </a:r>
          </a:p>
        </p:txBody>
      </p:sp>
      <p:sp>
        <p:nvSpPr>
          <p:cNvPr id="13" name="TextBox 12"/>
          <p:cNvSpPr txBox="1"/>
          <p:nvPr/>
        </p:nvSpPr>
        <p:spPr>
          <a:xfrm>
            <a:off x="4206240" y="5102352"/>
            <a:ext cx="1188720" cy="182880"/>
          </a:xfrm>
          <a:prstGeom prst="rect">
            <a:avLst/>
          </a:prstGeom>
          <a:noFill/>
        </p:spPr>
        <p:txBody>
          <a:bodyPr wrap="square">
            <a:spAutoFit/>
          </a:bodyPr>
          <a:lstStyle/>
          <a:p>
            <a:pPr algn="ctr"/>
            <a:r>
              <a:rPr sz="900" b="0" i="0">
                <a:solidFill>
                  <a:srgbClr val="888888"/>
                </a:solidFill>
              </a:rPr>
              <a:t>attack types</a:t>
            </a:r>
          </a:p>
        </p:txBody>
      </p:sp>
      <p:sp>
        <p:nvSpPr>
          <p:cNvPr id="14" name="Rectangle 13"/>
          <p:cNvSpPr/>
          <p:nvPr/>
        </p:nvSpPr>
        <p:spPr>
          <a:xfrm>
            <a:off x="6537960" y="1828800"/>
            <a:ext cx="4800600" cy="1645920"/>
          </a:xfrm>
          <a:prstGeom prst="rect">
            <a:avLst/>
          </a:prstGeom>
          <a:solidFill>
            <a:srgbClr val="0D1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1965960"/>
            <a:ext cx="4389120" cy="201168"/>
          </a:xfrm>
          <a:prstGeom prst="rect">
            <a:avLst/>
          </a:prstGeom>
          <a:noFill/>
        </p:spPr>
        <p:txBody>
          <a:bodyPr wrap="square">
            <a:spAutoFit/>
          </a:bodyPr>
          <a:lstStyle/>
          <a:p>
            <a:pPr algn="l"/>
            <a:r>
              <a:rPr sz="900" b="1" i="0">
                <a:solidFill>
                  <a:srgbClr val="60B8FF"/>
                </a:solidFill>
              </a:rPr>
              <a:t>c_dog - BEST DEFENSE</a:t>
            </a:r>
          </a:p>
        </p:txBody>
      </p:sp>
      <p:sp>
        <p:nvSpPr>
          <p:cNvPr id="16" name="TextBox 15"/>
          <p:cNvSpPr txBox="1"/>
          <p:nvPr/>
        </p:nvSpPr>
        <p:spPr>
          <a:xfrm>
            <a:off x="6720840" y="2267712"/>
            <a:ext cx="4480560" cy="868680"/>
          </a:xfrm>
          <a:prstGeom prst="rect">
            <a:avLst/>
          </a:prstGeom>
          <a:noFill/>
        </p:spPr>
        <p:txBody>
          <a:bodyPr wrap="square">
            <a:spAutoFit/>
          </a:bodyPr>
          <a:lstStyle/>
          <a:p>
            <a:pPr algn="l"/>
            <a:r>
              <a:rPr sz="1200" b="0" i="0">
                <a:solidFill>
                  <a:srgbClr val="CCCCCC"/>
                </a:solidFill>
              </a:rPr>
              <a:t>A small convolutional denoiser trained to strip adversarial structure from inputs before they reach the detector. It adapts to patch patterns rather than blindly smoothing.</a:t>
            </a:r>
          </a:p>
        </p:txBody>
      </p:sp>
      <p:sp>
        <p:nvSpPr>
          <p:cNvPr id="17" name="TextBox 16"/>
          <p:cNvSpPr txBox="1"/>
          <p:nvPr/>
        </p:nvSpPr>
        <p:spPr>
          <a:xfrm>
            <a:off x="6720840" y="3246120"/>
            <a:ext cx="4480560" cy="228600"/>
          </a:xfrm>
          <a:prstGeom prst="rect">
            <a:avLst/>
          </a:prstGeom>
          <a:noFill/>
        </p:spPr>
        <p:txBody>
          <a:bodyPr wrap="square">
            <a:spAutoFit/>
          </a:bodyPr>
          <a:lstStyle/>
          <a:p>
            <a:pPr algn="l"/>
            <a:r>
              <a:rPr sz="1200" b="0" i="0">
                <a:solidFill>
                  <a:srgbClr val="FFE066"/>
                </a:solidFill>
              </a:rPr>
              <a:t>square + c_dog: mAP50  0.238 -&gt; 0.394   (+65% recovery)</a:t>
            </a:r>
          </a:p>
        </p:txBody>
      </p:sp>
      <p:sp>
        <p:nvSpPr>
          <p:cNvPr id="18" name="Rectangle 17"/>
          <p:cNvSpPr/>
          <p:nvPr/>
        </p:nvSpPr>
        <p:spPr>
          <a:xfrm>
            <a:off x="6537960" y="3749039"/>
            <a:ext cx="4800600" cy="1783080"/>
          </a:xfrm>
          <a:prstGeom prst="rect">
            <a:avLst/>
          </a:prstGeom>
          <a:solidFill>
            <a:srgbClr val="12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20840" y="3886200"/>
            <a:ext cx="4389120" cy="201168"/>
          </a:xfrm>
          <a:prstGeom prst="rect">
            <a:avLst/>
          </a:prstGeom>
          <a:noFill/>
        </p:spPr>
        <p:txBody>
          <a:bodyPr wrap="square">
            <a:spAutoFit/>
          </a:bodyPr>
          <a:lstStyle/>
          <a:p>
            <a:pPr algn="l"/>
            <a:r>
              <a:rPr sz="900" b="1" i="0">
                <a:solidFill>
                  <a:srgbClr val="60B8FF"/>
                </a:solidFill>
              </a:rPr>
              <a:t>ADVERSARIAL FINETUNING</a:t>
            </a:r>
          </a:p>
        </p:txBody>
      </p:sp>
      <p:sp>
        <p:nvSpPr>
          <p:cNvPr id="20" name="TextBox 19"/>
          <p:cNvSpPr txBox="1"/>
          <p:nvPr/>
        </p:nvSpPr>
        <p:spPr>
          <a:xfrm>
            <a:off x="6720840" y="4187952"/>
            <a:ext cx="4480560" cy="1143000"/>
          </a:xfrm>
          <a:prstGeom prst="rect">
            <a:avLst/>
          </a:prstGeom>
          <a:noFill/>
        </p:spPr>
        <p:txBody>
          <a:bodyPr wrap="square">
            <a:spAutoFit/>
          </a:bodyPr>
          <a:lstStyle/>
          <a:p>
            <a:pPr algn="l"/>
            <a:r>
              <a:rPr sz="1100" b="0" i="0">
                <a:solidFill>
                  <a:srgbClr val="CCCCCC"/>
                </a:solidFill>
              </a:rPr>
              <a:t>- Architecture: DPC-UNet detector</a:t>
            </a:r>
          </a:p>
          <a:p>
            <a:pPr algn="l"/>
            <a:r>
              <a:rPr sz="1100" b="0" i="0">
                <a:solidFill>
                  <a:srgbClr val="CCCCCC"/>
                </a:solidFill>
              </a:rPr>
              <a:t>- Mix: square x5 oversample + DeepFool + blur pairs</a:t>
            </a:r>
          </a:p>
          <a:p>
            <a:pPr algn="l"/>
            <a:r>
              <a:rPr sz="1100" b="0" i="0">
                <a:solidFill>
                  <a:srgbClr val="CCCCCC"/>
                </a:solidFill>
              </a:rPr>
              <a:t>- Gate: deploy only if clean mAP50 &gt;= 0.600</a:t>
            </a:r>
          </a:p>
          <a:p>
            <a:pPr algn="l"/>
            <a:r>
              <a:rPr sz="1100" b="0" i="0">
                <a:solidFill>
                  <a:srgbClr val="CCCCCC"/>
                </a:solidFill>
              </a:rPr>
              <a:t>- Result: +0.003 clean mAP50 - gate passed</a:t>
            </a:r>
          </a:p>
          <a:p>
            <a:pPr algn="l"/>
            <a:r>
              <a:rPr sz="1100" b="0" i="0">
                <a:solidFill>
                  <a:srgbClr val="CCCCCC"/>
                </a:solidFill>
              </a:rPr>
              <a:t>- Attack resistance: delta within noise - open problem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F"/>
        </a:solidFill>
        <a:effectLst/>
      </p:bgPr>
    </p:bg>
    <p:spTree>
      <p:nvGrpSpPr>
        <p:cNvPr id="1" name=""/>
        <p:cNvGrpSpPr/>
        <p:nvPr/>
      </p:nvGrpSpPr>
      <p:grpSpPr/>
      <p:sp>
        <p:nvSpPr>
          <p:cNvPr id="2" name="TextBox 1"/>
          <p:cNvSpPr txBox="1"/>
          <p:nvPr/>
        </p:nvSpPr>
        <p:spPr>
          <a:xfrm>
            <a:off x="822960" y="411480"/>
            <a:ext cx="3657600" cy="256032"/>
          </a:xfrm>
          <a:prstGeom prst="rect">
            <a:avLst/>
          </a:prstGeom>
          <a:noFill/>
        </p:spPr>
        <p:txBody>
          <a:bodyPr wrap="square">
            <a:spAutoFit/>
          </a:bodyPr>
          <a:lstStyle/>
          <a:p>
            <a:pPr algn="l"/>
            <a:r>
              <a:rPr sz="900" b="1" i="0">
                <a:solidFill>
                  <a:srgbClr val="60B8FF"/>
                </a:solidFill>
              </a:rPr>
              <a:t>LIVE DEMONSTRATION</a:t>
            </a:r>
          </a:p>
        </p:txBody>
      </p:sp>
      <p:sp>
        <p:nvSpPr>
          <p:cNvPr id="3" name="TextBox 2"/>
          <p:cNvSpPr txBox="1"/>
          <p:nvPr/>
        </p:nvSpPr>
        <p:spPr>
          <a:xfrm>
            <a:off x="822960" y="1143000"/>
            <a:ext cx="5029200" cy="731520"/>
          </a:xfrm>
          <a:prstGeom prst="rect">
            <a:avLst/>
          </a:prstGeom>
          <a:noFill/>
        </p:spPr>
        <p:txBody>
          <a:bodyPr wrap="square">
            <a:spAutoFit/>
          </a:bodyPr>
          <a:lstStyle/>
          <a:p>
            <a:pPr algn="l"/>
            <a:r>
              <a:rPr sz="4000" b="1" i="0">
                <a:solidFill>
                  <a:srgbClr val="3EFFA0"/>
                </a:solidFill>
              </a:rPr>
              <a:t>Live Demo</a:t>
            </a:r>
          </a:p>
        </p:txBody>
      </p:sp>
      <p:sp>
        <p:nvSpPr>
          <p:cNvPr id="4" name="TextBox 3"/>
          <p:cNvSpPr txBox="1"/>
          <p:nvPr/>
        </p:nvSpPr>
        <p:spPr>
          <a:xfrm>
            <a:off x="822960" y="2011680"/>
            <a:ext cx="5669280" cy="502920"/>
          </a:xfrm>
          <a:prstGeom prst="rect">
            <a:avLst/>
          </a:prstGeom>
          <a:noFill/>
        </p:spPr>
        <p:txBody>
          <a:bodyPr wrap="square">
            <a:spAutoFit/>
          </a:bodyPr>
          <a:lstStyle/>
          <a:p>
            <a:pPr algn="l"/>
            <a:r>
              <a:rPr sz="1400" b="0" i="0">
                <a:solidFill>
                  <a:srgbClr val="CCCCCC"/>
                </a:solidFill>
              </a:rPr>
              <a:t>Split-screen: clean YOLO detections on the left, patch digitally overlaid on the right.</a:t>
            </a:r>
          </a:p>
        </p:txBody>
      </p:sp>
      <p:sp>
        <p:nvSpPr>
          <p:cNvPr id="5" name="Rectangle 4"/>
          <p:cNvSpPr/>
          <p:nvPr/>
        </p:nvSpPr>
        <p:spPr>
          <a:xfrm>
            <a:off x="822960" y="2651760"/>
            <a:ext cx="3840480" cy="18288"/>
          </a:xfrm>
          <a:prstGeom prst="rect">
            <a:avLst/>
          </a:prstGeom>
          <a:solidFill>
            <a:srgbClr val="1E1E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34640"/>
            <a:ext cx="5669280" cy="868680"/>
          </a:xfrm>
          <a:prstGeom prst="rect">
            <a:avLst/>
          </a:prstGeom>
          <a:noFill/>
        </p:spPr>
        <p:txBody>
          <a:bodyPr wrap="square">
            <a:spAutoFit/>
          </a:bodyPr>
          <a:lstStyle/>
          <a:p>
            <a:pPr algn="l"/>
            <a:r>
              <a:rPr sz="1300" b="0" i="0">
                <a:solidFill>
                  <a:srgbClr val="CCCCCC"/>
                </a:solidFill>
              </a:rPr>
              <a:t>- Patch: 100 x 100 px, YOLOv8n</a:t>
            </a:r>
          </a:p>
          <a:p>
            <a:pPr algn="l"/>
            <a:r>
              <a:rPr sz="1300" b="0" i="0">
                <a:solidFill>
                  <a:srgbClr val="CCCCCC"/>
                </a:solidFill>
              </a:rPr>
              <a:t>- Placed on the torso of the largest detected person</a:t>
            </a:r>
          </a:p>
          <a:p>
            <a:pPr algn="l"/>
            <a:r>
              <a:rPr sz="1300" b="0" i="0">
                <a:solidFill>
                  <a:srgbClr val="CCCCCC"/>
                </a:solidFill>
              </a:rPr>
              <a:t>- Rolling 30-frame suppression average</a:t>
            </a:r>
          </a:p>
        </p:txBody>
      </p:sp>
      <p:sp>
        <p:nvSpPr>
          <p:cNvPr id="7" name="Rectangle 6"/>
          <p:cNvSpPr/>
          <p:nvPr/>
        </p:nvSpPr>
        <p:spPr>
          <a:xfrm>
            <a:off x="822960" y="3822191"/>
            <a:ext cx="3840480" cy="18288"/>
          </a:xfrm>
          <a:prstGeom prst="rect">
            <a:avLst/>
          </a:prstGeom>
          <a:solidFill>
            <a:srgbClr val="1E1E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4069080"/>
            <a:ext cx="5852160" cy="1463040"/>
          </a:xfrm>
          <a:prstGeom prst="rect">
            <a:avLst/>
          </a:prstGeom>
          <a:solidFill>
            <a:srgbClr val="1A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4187952"/>
            <a:ext cx="5486400" cy="201168"/>
          </a:xfrm>
          <a:prstGeom prst="rect">
            <a:avLst/>
          </a:prstGeom>
          <a:noFill/>
        </p:spPr>
        <p:txBody>
          <a:bodyPr wrap="square">
            <a:spAutoFit/>
          </a:bodyPr>
          <a:lstStyle/>
          <a:p>
            <a:pPr algn="l"/>
            <a:r>
              <a:rPr sz="900" b="1" i="0">
                <a:solidFill>
                  <a:srgbClr val="60B8FF"/>
                </a:solidFill>
              </a:rPr>
              <a:t>PHYSICAL PRINT</a:t>
            </a:r>
          </a:p>
        </p:txBody>
      </p:sp>
      <p:sp>
        <p:nvSpPr>
          <p:cNvPr id="10" name="TextBox 9"/>
          <p:cNvSpPr txBox="1"/>
          <p:nvPr/>
        </p:nvSpPr>
        <p:spPr>
          <a:xfrm>
            <a:off x="1005840" y="4462272"/>
            <a:ext cx="5486400" cy="822960"/>
          </a:xfrm>
          <a:prstGeom prst="rect">
            <a:avLst/>
          </a:prstGeom>
          <a:noFill/>
        </p:spPr>
        <p:txBody>
          <a:bodyPr wrap="square">
            <a:spAutoFit/>
          </a:bodyPr>
          <a:lstStyle/>
          <a:p>
            <a:pPr algn="l"/>
            <a:r>
              <a:rPr sz="1200" b="0" i="0">
                <a:solidFill>
                  <a:srgbClr val="FFE066"/>
                </a:solidFill>
              </a:rPr>
              <a:t>Patch exported at 300 DPI, 8 x 8 inches.</a:t>
            </a:r>
          </a:p>
          <a:p>
            <a:pPr algn="l"/>
            <a:r>
              <a:rPr sz="1200" b="0" i="0">
                <a:solidFill>
                  <a:srgbClr val="CCCCCC"/>
                </a:solidFill>
              </a:rPr>
              <a:t>Physical suppression is roughly 30-60% because printers, lighting, and angle perturb the patch.</a:t>
            </a:r>
          </a:p>
          <a:p>
            <a:pPr algn="l"/>
            <a:r>
              <a:rPr sz="1200" b="0" i="0">
                <a:solidFill>
                  <a:srgbClr val="CCCCCC"/>
                </a:solidFill>
              </a:rPr>
              <a:t>NPS loss during training partially compensates.</a:t>
            </a:r>
          </a:p>
        </p:txBody>
      </p:sp>
      <p:pic>
        <p:nvPicPr>
          <p:cNvPr id="11" name="Picture 10" descr="patch.png"/>
          <p:cNvPicPr>
            <a:picLocks noChangeAspect="1"/>
          </p:cNvPicPr>
          <p:nvPr/>
        </p:nvPicPr>
        <p:blipFill>
          <a:blip r:embed="rId2"/>
          <a:stretch>
            <a:fillRect/>
          </a:stretch>
        </p:blipFill>
        <p:spPr>
          <a:xfrm>
            <a:off x="7818120" y="1463040"/>
            <a:ext cx="2743200" cy="2743200"/>
          </a:xfrm>
          <a:prstGeom prst="rect">
            <a:avLst/>
          </a:prstGeom>
        </p:spPr>
      </p:pic>
      <p:sp>
        <p:nvSpPr>
          <p:cNvPr id="12" name="Rectangle 11"/>
          <p:cNvSpPr/>
          <p:nvPr/>
        </p:nvSpPr>
        <p:spPr>
          <a:xfrm>
            <a:off x="7863840" y="4434840"/>
            <a:ext cx="2651760" cy="640080"/>
          </a:xfrm>
          <a:prstGeom prst="rect">
            <a:avLst/>
          </a:prstGeom>
          <a:solidFill>
            <a:srgbClr val="12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0" y="4572000"/>
            <a:ext cx="2468880" cy="365760"/>
          </a:xfrm>
          <a:prstGeom prst="rect">
            <a:avLst/>
          </a:prstGeom>
          <a:noFill/>
        </p:spPr>
        <p:txBody>
          <a:bodyPr wrap="square">
            <a:spAutoFit/>
          </a:bodyPr>
          <a:lstStyle/>
          <a:p>
            <a:pPr algn="ctr"/>
            <a:r>
              <a:rPr sz="1000" b="0" i="0">
                <a:solidFill>
                  <a:srgbClr val="888888"/>
                </a:solidFill>
              </a:rPr>
              <a:t>YOLOv8n patch - 90% suppression
100 x 100 px - shown 2x</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A0F"/>
        </a:solidFill>
        <a:effectLst/>
      </p:bgPr>
    </p:bg>
    <p:spTree>
      <p:nvGrpSpPr>
        <p:cNvPr id="1" name=""/>
        <p:cNvGrpSpPr/>
        <p:nvPr/>
      </p:nvGrpSpPr>
      <p:grpSpPr/>
      <p:sp>
        <p:nvSpPr>
          <p:cNvPr id="2" name="TextBox 1"/>
          <p:cNvSpPr txBox="1"/>
          <p:nvPr/>
        </p:nvSpPr>
        <p:spPr>
          <a:xfrm>
            <a:off x="822960" y="411480"/>
            <a:ext cx="3657600" cy="256032"/>
          </a:xfrm>
          <a:prstGeom prst="rect">
            <a:avLst/>
          </a:prstGeom>
          <a:noFill/>
        </p:spPr>
        <p:txBody>
          <a:bodyPr wrap="square">
            <a:spAutoFit/>
          </a:bodyPr>
          <a:lstStyle/>
          <a:p>
            <a:pPr algn="l"/>
            <a:r>
              <a:rPr sz="900" b="1" i="0">
                <a:solidFill>
                  <a:srgbClr val="60B8FF"/>
                </a:solidFill>
              </a:rPr>
              <a:t>CONCLUSIONS</a:t>
            </a:r>
          </a:p>
        </p:txBody>
      </p:sp>
      <p:sp>
        <p:nvSpPr>
          <p:cNvPr id="3" name="TextBox 2"/>
          <p:cNvSpPr txBox="1"/>
          <p:nvPr/>
        </p:nvSpPr>
        <p:spPr>
          <a:xfrm>
            <a:off x="822960" y="777240"/>
            <a:ext cx="10241280" cy="1463040"/>
          </a:xfrm>
          <a:prstGeom prst="rect">
            <a:avLst/>
          </a:prstGeom>
          <a:noFill/>
        </p:spPr>
        <p:txBody>
          <a:bodyPr wrap="square">
            <a:spAutoFit/>
          </a:bodyPr>
          <a:lstStyle/>
          <a:p>
            <a:pPr algn="l"/>
            <a:r>
              <a:rPr sz="3800" b="1" i="0">
                <a:solidFill>
                  <a:srgbClr val="E8E8F0"/>
                </a:solidFill>
              </a:rPr>
              <a:t>What We</a:t>
            </a:r>
          </a:p>
          <a:p>
            <a:pPr algn="l"/>
            <a:r>
              <a:rPr sz="3800" b="1" i="0">
                <a:solidFill>
                  <a:srgbClr val="3EFFA0"/>
                </a:solidFill>
              </a:rPr>
              <a:t>Learned</a:t>
            </a:r>
          </a:p>
        </p:txBody>
      </p:sp>
      <p:sp>
        <p:nvSpPr>
          <p:cNvPr id="4" name="Rectangle 3"/>
          <p:cNvSpPr/>
          <p:nvPr/>
        </p:nvSpPr>
        <p:spPr>
          <a:xfrm>
            <a:off x="822960" y="2148840"/>
            <a:ext cx="3291840" cy="2240280"/>
          </a:xfrm>
          <a:prstGeom prst="rect">
            <a:avLst/>
          </a:prstGeom>
          <a:solidFill>
            <a:srgbClr val="0D1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2313432"/>
            <a:ext cx="3291840" cy="201168"/>
          </a:xfrm>
          <a:prstGeom prst="rect">
            <a:avLst/>
          </a:prstGeom>
          <a:noFill/>
        </p:spPr>
        <p:txBody>
          <a:bodyPr wrap="square">
            <a:spAutoFit/>
          </a:bodyPr>
          <a:lstStyle/>
          <a:p>
            <a:pPr algn="l"/>
            <a:r>
              <a:rPr sz="900" b="1" i="0">
                <a:solidFill>
                  <a:srgbClr val="60B8FF"/>
                </a:solidFill>
              </a:rPr>
              <a:t>FRAMEWORK CONTRIBUTION</a:t>
            </a:r>
          </a:p>
        </p:txBody>
      </p:sp>
      <p:sp>
        <p:nvSpPr>
          <p:cNvPr id="6" name="TextBox 5"/>
          <p:cNvSpPr txBox="1"/>
          <p:nvPr/>
        </p:nvSpPr>
        <p:spPr>
          <a:xfrm>
            <a:off x="1005840" y="2651760"/>
            <a:ext cx="3017520" cy="1417320"/>
          </a:xfrm>
          <a:prstGeom prst="rect">
            <a:avLst/>
          </a:prstGeom>
          <a:noFill/>
        </p:spPr>
        <p:txBody>
          <a:bodyPr wrap="square">
            <a:spAutoFit/>
          </a:bodyPr>
          <a:lstStyle/>
          <a:p>
            <a:pPr algn="l"/>
            <a:r>
              <a:rPr sz="1300" b="0" i="0">
                <a:solidFill>
                  <a:srgbClr val="CCCCCC"/>
                </a:solidFill>
              </a:rPr>
              <a:t>A reproducible two-track pipeline producing schema-enforced results across 3 YOLO generations, 3 attack types, 4 defense types, and 22 automated cycles.</a:t>
            </a:r>
          </a:p>
        </p:txBody>
      </p:sp>
      <p:sp>
        <p:nvSpPr>
          <p:cNvPr id="7" name="Rectangle 6"/>
          <p:cNvSpPr/>
          <p:nvPr/>
        </p:nvSpPr>
        <p:spPr>
          <a:xfrm>
            <a:off x="4480560" y="2148840"/>
            <a:ext cx="3291840" cy="2240280"/>
          </a:xfrm>
          <a:prstGeom prst="rect">
            <a:avLst/>
          </a:prstGeom>
          <a:solidFill>
            <a:srgbClr val="0D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313432"/>
            <a:ext cx="3291840" cy="201168"/>
          </a:xfrm>
          <a:prstGeom prst="rect">
            <a:avLst/>
          </a:prstGeom>
          <a:noFill/>
        </p:spPr>
        <p:txBody>
          <a:bodyPr wrap="square">
            <a:spAutoFit/>
          </a:bodyPr>
          <a:lstStyle/>
          <a:p>
            <a:pPr algn="l"/>
            <a:r>
              <a:rPr sz="900" b="1" i="0">
                <a:solidFill>
                  <a:srgbClr val="60B8FF"/>
                </a:solidFill>
              </a:rPr>
              <a:t>ARCHITECTURE MATTERS</a:t>
            </a:r>
          </a:p>
        </p:txBody>
      </p:sp>
      <p:sp>
        <p:nvSpPr>
          <p:cNvPr id="9" name="TextBox 8"/>
          <p:cNvSpPr txBox="1"/>
          <p:nvPr/>
        </p:nvSpPr>
        <p:spPr>
          <a:xfrm>
            <a:off x="4663440" y="2651760"/>
            <a:ext cx="3017520" cy="1417320"/>
          </a:xfrm>
          <a:prstGeom prst="rect">
            <a:avLst/>
          </a:prstGeom>
          <a:noFill/>
        </p:spPr>
        <p:txBody>
          <a:bodyPr wrap="square">
            <a:spAutoFit/>
          </a:bodyPr>
          <a:lstStyle/>
          <a:p>
            <a:pPr algn="l"/>
            <a:r>
              <a:rPr sz="1300" b="0" i="0">
                <a:solidFill>
                  <a:srgbClr val="CCCCCC"/>
                </a:solidFill>
              </a:rPr>
              <a:t>YOLO26n's end-to-end matching breaks the usual assumption that optimizing the attack objective will directly reduce detections.</a:t>
            </a:r>
          </a:p>
        </p:txBody>
      </p:sp>
      <p:sp>
        <p:nvSpPr>
          <p:cNvPr id="10" name="Rectangle 9"/>
          <p:cNvSpPr/>
          <p:nvPr/>
        </p:nvSpPr>
        <p:spPr>
          <a:xfrm>
            <a:off x="8138160" y="2148840"/>
            <a:ext cx="3291840" cy="2240280"/>
          </a:xfrm>
          <a:prstGeom prst="rect">
            <a:avLst/>
          </a:prstGeom>
          <a:solidFill>
            <a:srgbClr val="1A18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2313432"/>
            <a:ext cx="3291840" cy="201168"/>
          </a:xfrm>
          <a:prstGeom prst="rect">
            <a:avLst/>
          </a:prstGeom>
          <a:noFill/>
        </p:spPr>
        <p:txBody>
          <a:bodyPr wrap="square">
            <a:spAutoFit/>
          </a:bodyPr>
          <a:lstStyle/>
          <a:p>
            <a:pPr algn="l"/>
            <a:r>
              <a:rPr sz="900" b="1" i="0">
                <a:solidFill>
                  <a:srgbClr val="60B8FF"/>
                </a:solidFill>
              </a:rPr>
              <a:t>OPEN QUESTIONS</a:t>
            </a:r>
          </a:p>
        </p:txBody>
      </p:sp>
      <p:sp>
        <p:nvSpPr>
          <p:cNvPr id="12" name="TextBox 11"/>
          <p:cNvSpPr txBox="1"/>
          <p:nvPr/>
        </p:nvSpPr>
        <p:spPr>
          <a:xfrm>
            <a:off x="8321040" y="2651760"/>
            <a:ext cx="3017520" cy="1417320"/>
          </a:xfrm>
          <a:prstGeom prst="rect">
            <a:avLst/>
          </a:prstGeom>
          <a:noFill/>
        </p:spPr>
        <p:txBody>
          <a:bodyPr wrap="square">
            <a:spAutoFit/>
          </a:bodyPr>
          <a:lstStyle/>
          <a:p>
            <a:pPr algn="l"/>
            <a:r>
              <a:rPr sz="1300" b="0" i="0">
                <a:solidFill>
                  <a:srgbClr val="CCCCCC"/>
                </a:solidFill>
              </a:rPr>
              <a:t>Does the NMS-free shift require a new attack class, or can DETR-style matching-aware attacks port into YOLO26n? Physical robustness at scale remains open.</a:t>
            </a:r>
          </a:p>
        </p:txBody>
      </p:sp>
      <p:sp>
        <p:nvSpPr>
          <p:cNvPr id="13" name="Rectangle 12"/>
          <p:cNvSpPr/>
          <p:nvPr/>
        </p:nvSpPr>
        <p:spPr>
          <a:xfrm>
            <a:off x="822960" y="5166360"/>
            <a:ext cx="10515600" cy="18288"/>
          </a:xfrm>
          <a:prstGeom prst="rect">
            <a:avLst/>
          </a:prstGeom>
          <a:solidFill>
            <a:srgbClr val="1E1E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5440680"/>
            <a:ext cx="10515600" cy="365760"/>
          </a:xfrm>
          <a:prstGeom prst="rect">
            <a:avLst/>
          </a:prstGeom>
          <a:noFill/>
        </p:spPr>
        <p:txBody>
          <a:bodyPr wrap="square">
            <a:spAutoFit/>
          </a:bodyPr>
          <a:lstStyle/>
          <a:p>
            <a:pPr algn="l"/>
            <a:r>
              <a:rPr sz="1200" b="0" i="0">
                <a:solidFill>
                  <a:srgbClr val="60B8FF"/>
                </a:solidFill>
              </a:rPr>
              <a:t>Training script | Colab notebook | Live demo | All results -&gt; github.com/Cmaddock99/Patch_Yolo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