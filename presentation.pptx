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B8FF"/>
                </a:solidFill>
              </a:rPr>
              <a:t>CAPSTONE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E8E8F0"/>
                </a:solidFill>
              </a:rPr>
              <a:t>Adversarial Patch</a:t>
            </a:r>
          </a:p>
          <a:p>
            <a:pPr algn="l">
              <a:spcBef>
                <a:spcPts val="200"/>
              </a:spcBef>
            </a:pPr>
            <a:r>
              <a:rPr sz="4400" b="1">
                <a:solidFill>
                  <a:srgbClr val="3EFFA0"/>
                </a:solidFill>
              </a:rPr>
              <a:t>Attacks on YOLO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88888"/>
                </a:solidFill>
              </a:rPr>
              <a:t>Gradient-based person detection suppression across YOLOv8n, YOLO11n, and YOLO26n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B8FF"/>
                </a:solidFill>
              </a:rP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E8F0"/>
                </a:solidFill>
              </a:rPr>
              <a:t>What Is an</a:t>
            </a:r>
          </a:p>
          <a:p>
            <a:pPr algn="l">
              <a:spcBef>
                <a:spcPts val="200"/>
              </a:spcBef>
            </a:pPr>
            <a:r>
              <a:rPr sz="3600" b="1">
                <a:solidFill>
                  <a:srgbClr val="60B8FF"/>
                </a:solidFill>
              </a:rPr>
              <a:t>Adversarial Patch?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B8FF"/>
                </a:solidFill>
              </a:rPr>
              <a:t>THE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A small image region, optimized through gradient descent, that causes a neural network to stop detecting objects — even when the object is fully visible.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20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B8FF"/>
                </a:solidFill>
              </a:rPr>
              <a:t>HOW IT'S DIFFERENT FROM OCCLUSION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Covering a face with any object reduces features. An adversarial patch exploits the model's internal representations — creating activation patterns the detector interprets as 'no person.'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194560"/>
            <a:ext cx="5029200" cy="1691640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3317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B8FF"/>
                </a:solidFill>
              </a:rPr>
              <a:t>TRAINING 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517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• Freeze model weights</a:t>
            </a:r>
          </a:p>
          <a:p>
            <a:pPr algn="l"/>
            <a:r>
              <a:rPr sz="1200" b="0">
                <a:solidFill>
                  <a:srgbClr val="CCCCCC"/>
                </a:solidFill>
              </a:rPr>
              <a:t>• Overlay patch on person's torso</a:t>
            </a:r>
          </a:p>
          <a:p>
            <a:pPr algn="l"/>
            <a:r>
              <a:rPr sz="1200" b="0">
                <a:solidFill>
                  <a:srgbClr val="CCCCCC"/>
                </a:solidFill>
              </a:rPr>
              <a:t>• Forward pass → detection confidence</a:t>
            </a:r>
          </a:p>
          <a:p>
            <a:pPr algn="l"/>
            <a:r>
              <a:rPr sz="1200" b="0">
                <a:solidFill>
                  <a:srgbClr val="3EFFA0"/>
                </a:solidFill>
              </a:rPr>
              <a:t>• Backpropagate to patch pixels only</a:t>
            </a:r>
          </a:p>
          <a:p>
            <a:pPr algn="l"/>
            <a:r>
              <a:rPr sz="1200" b="0">
                <a:solidFill>
                  <a:srgbClr val="CCCCCC"/>
                </a:solidFill>
              </a:rPr>
              <a:t>• Repeat until detections suppress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4023360"/>
            <a:ext cx="5029200" cy="146304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160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B8FF"/>
                </a:solidFill>
              </a:rPr>
              <a:t>ROBUSTNESS AUGMENTATIONS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48056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• Random rotation ±15°</a:t>
            </a:r>
          </a:p>
          <a:p>
            <a:pPr algn="l"/>
            <a:r>
              <a:rPr sz="1200" b="0">
                <a:solidFill>
                  <a:srgbClr val="CCCCCC"/>
                </a:solidFill>
              </a:rPr>
              <a:t>• Cutout masking (T-SEA)</a:t>
            </a:r>
          </a:p>
          <a:p>
            <a:pPr algn="l"/>
            <a:r>
              <a:rPr sz="1200" b="0">
                <a:solidFill>
                  <a:srgbClr val="CCCCCC"/>
                </a:solidFill>
              </a:rPr>
              <a:t>• Block erasing (DePatch)</a:t>
            </a:r>
          </a:p>
          <a:p>
            <a:pPr algn="l"/>
            <a:r>
              <a:rPr sz="1200" b="0">
                <a:solidFill>
                  <a:srgbClr val="CCCCCC"/>
                </a:solidFill>
              </a:rPr>
              <a:t>• Non-Printability Score loss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B8FF"/>
                </a:solidFill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E8E8F0"/>
                </a:solidFill>
              </a:rPr>
              <a:t>Detection</a:t>
            </a:r>
          </a:p>
          <a:p>
            <a:pPr algn="l">
              <a:spcBef>
                <a:spcPts val="200"/>
              </a:spcBef>
            </a:pPr>
            <a:r>
              <a:rPr sz="3800" b="1">
                <a:solidFill>
                  <a:srgbClr val="3EFFA0"/>
                </a:solidFill>
              </a:rPr>
              <a:t>Suppression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286000"/>
            <a:ext cx="3291840" cy="2926080"/>
          </a:xfrm>
          <a:prstGeom prst="rect">
            <a:avLst/>
          </a:prstGeom>
          <a:solidFill>
            <a:srgbClr val="0D1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3EFFA0"/>
                </a:solidFill>
              </a:rPr>
              <a:t>90%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9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E8F0"/>
                </a:solidFill>
              </a:rPr>
              <a:t>YOLOv8n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</a:rPr>
              <a:t>20 → 2 detections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605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</a:rPr>
              <a:t>1000 epochs · loss 0.543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2286000"/>
            <a:ext cx="3291840" cy="2926080"/>
          </a:xfrm>
          <a:prstGeom prst="rect">
            <a:avLst/>
          </a:prstGeom>
          <a:solidFill>
            <a:srgbClr val="1A1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5603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E066"/>
                </a:solidFill>
              </a:rPr>
              <a:t>72.7%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429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E8F0"/>
                </a:solidFill>
              </a:rPr>
              <a:t>YOLO11n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7947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</a:rPr>
              <a:t>33 → 9 detections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41605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</a:rPr>
              <a:t>1000 epochs · loss 0.597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2286000"/>
            <a:ext cx="3291840" cy="2926080"/>
          </a:xfrm>
          <a:prstGeom prst="rect">
            <a:avLst/>
          </a:prstGeom>
          <a:solidFill>
            <a:srgbClr val="1A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25603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6060"/>
                </a:solidFill>
              </a:rPr>
              <a:t>16.3%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429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E8F0"/>
                </a:solidFill>
              </a:rPr>
              <a:t>YOLO26n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7947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</a:rPr>
              <a:t>43 → 36 detections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1605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</a:rPr>
              <a:t>1000 epochs · loss 0.108 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49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Patch size: 100×100 px  ·  Image size: 640×640  ·  2.4% of total pixels</a:t>
            </a:r>
          </a:p>
          <a:p>
            <a:pPr algn="l">
              <a:spcBef>
                <a:spcPts val="600"/>
              </a:spcBef>
            </a:pPr>
            <a:r>
              <a:rPr sz="1000" b="0">
                <a:solidFill>
                  <a:srgbClr val="444444"/>
                </a:solidFill>
              </a:rPr>
              <a:t>⚠ v26n loss converged lower than v8n/v11n yet suppression failed — see next slide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B8FF"/>
                </a:solidFill>
              </a:rPr>
              <a:t>KEY RESEARCH FINDING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E8F0"/>
                </a:solidFill>
              </a:rPr>
              <a:t>The </a:t>
            </a:r>
          </a:p>
          <a:p>
            <a:pPr algn="l"/>
            <a:r>
              <a:rPr sz="3600" b="1">
                <a:solidFill>
                  <a:srgbClr val="FF6060"/>
                </a:solidFill>
              </a:rPr>
              <a:t>v26n Paradox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5212080" cy="1417320"/>
          </a:xfrm>
          <a:prstGeom prst="rect">
            <a:avLst/>
          </a:prstGeom>
          <a:solidFill>
            <a:srgbClr val="1A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B8FF"/>
                </a:solidFill>
              </a:rPr>
              <a:t>WHAT HAPPENED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Optimizer fully converged.</a:t>
            </a:r>
          </a:p>
          <a:p>
            <a:pPr algn="l"/>
            <a:r>
              <a:rPr sz="1200" b="0">
                <a:solidFill>
                  <a:srgbClr val="FF6060"/>
                </a:solidFill>
              </a:rPr>
              <a:t>final_det_loss = 0.108  — lower than v8n (0.543) and v11n (0.597).</a:t>
            </a:r>
          </a:p>
          <a:p>
            <a:pPr algn="l"/>
            <a:r>
              <a:rPr sz="1200" b="0">
                <a:solidFill>
                  <a:srgbClr val="CCCCCC"/>
                </a:solidFill>
              </a:rPr>
              <a:t>Suppression: only 16.3%.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337560"/>
            <a:ext cx="5212080" cy="2194560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B8FF"/>
                </a:solidFill>
              </a:rPr>
              <a:t>ROOT CAUSE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49039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YOLO26n uses end-to-end Hungarian matching (head_end2end: true).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25196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E066"/>
                </a:solidFill>
              </a:rPr>
              <a:t>• Training  optimizes the one2many auxiliary head</a:t>
            </a:r>
          </a:p>
          <a:p>
            <a:pPr algn="l"/>
            <a:r>
              <a:rPr sz="1200" b="0">
                <a:solidFill>
                  <a:srgbClr val="3EFFA0"/>
                </a:solidFill>
              </a:rPr>
              <a:t>• Inference uses the one2one head for final detections</a:t>
            </a:r>
          </a:p>
          <a:p>
            <a:pPr algn="l"/>
            <a:r>
              <a:rPr sz="1200" b="1">
                <a:solidFill>
                  <a:srgbClr val="CCCCCC"/>
                </a:solidFill>
              </a:rPr>
              <a:t>• These heads are architecturally separate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828800"/>
            <a:ext cx="5212080" cy="173736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96596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B8FF"/>
                </a:solidFill>
              </a:rPr>
              <a:t>WARM-START EXPERIMENT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286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Initialized v26n training from the v8n 90% patch. Trained 2000 epochs.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7889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E8F0"/>
                </a:solidFill>
              </a:rPr>
              <a:t>Result: 14.0%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12724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The barrier is structural, not a local minimum you can escape from.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703320"/>
            <a:ext cx="5212080" cy="1783080"/>
          </a:xfrm>
          <a:prstGeom prst="rect">
            <a:avLst/>
          </a:prstGeom>
          <a:solidFill>
            <a:srgbClr val="0D1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84048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B8FF"/>
                </a:solidFill>
              </a:rPr>
              <a:t>WHAT THIS MEANS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16052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YOLO26n's architecture is a natural defense against this class of attack. The correct follow-up is to route gradients through the one2one head directly during training.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B8FF"/>
                </a:solidFill>
              </a:rPr>
              <a:t>CROSS-MODEL GENERALIZATION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E8F0"/>
                </a:solidFill>
              </a:rPr>
              <a:t>Transfer </a:t>
            </a:r>
          </a:p>
          <a:p>
            <a:pPr algn="l"/>
            <a:r>
              <a:rPr sz="3600" b="1">
                <a:solidFill>
                  <a:srgbClr val="60B8FF"/>
                </a:solidFill>
              </a:rPr>
              <a:t>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B8FF"/>
                </a:solidFill>
              </a:rPr>
              <a:t>SINGLE-SOURCE TRANSFERS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Patch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2240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Eval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240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Suppression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87168"/>
            <a:ext cx="5394960" cy="384048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3288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v8n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53288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v11n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53288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E066"/>
                </a:solidFill>
              </a:rPr>
              <a:t>36.4%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16936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v11n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91693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v8n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91693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EFFA0"/>
                </a:solidFill>
              </a:rPr>
              <a:t>50.0%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255264"/>
            <a:ext cx="5394960" cy="384048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00984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v26n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30098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v8n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30098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EFFA0"/>
                </a:solidFill>
              </a:rPr>
              <a:t>45.0%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685032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v26n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368503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v11n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368503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E066"/>
                </a:solidFill>
              </a:rPr>
              <a:t>24.2%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023360"/>
            <a:ext cx="5394960" cy="384048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06908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v8n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406908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v26n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40690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060"/>
                </a:solidFill>
              </a:rPr>
              <a:t>11.6%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45312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v11n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445312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v26n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445312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060"/>
                </a:solidFill>
              </a:rPr>
              <a:t>9.3%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19202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B8FF"/>
                </a:solidFill>
              </a:rPr>
              <a:t>JOINT PATCHES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240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Joint source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2402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Eval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2240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Suppression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2487168"/>
            <a:ext cx="5212080" cy="384048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253288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v8n + v11n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253288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v8n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253288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EFFA0"/>
                </a:solidFill>
              </a:rPr>
              <a:t>85%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291693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v8n + v11n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2916936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v11n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291693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EFFA0"/>
                </a:solidFill>
              </a:rPr>
              <a:t>66.7%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3255264"/>
            <a:ext cx="5212080" cy="384048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330098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v8n + v26n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3300984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v26n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330098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060"/>
                </a:solidFill>
              </a:rPr>
              <a:t>18.6%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3959352"/>
            <a:ext cx="5212080" cy="1371600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0" y="4096512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B8FF"/>
                </a:solidFill>
              </a:rPr>
              <a:t>KEY INSIGHT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4416552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Transfer rates vary by architecture — not by patch placement. This rules out occlusion as the primary mechanism.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B8FF"/>
                </a:solidFill>
              </a:rPr>
              <a:t>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3EFFA0"/>
                </a:solidFill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Split-screen: clean YOLO detections on the left,
patch digitally overlaid on the right.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EFFA0"/>
                </a:solidFill>
              </a:rPr>
              <a:t>• Patch: 100×100 px, YOLOv8n</a:t>
            </a:r>
          </a:p>
          <a:p>
            <a:pPr algn="l"/>
            <a:r>
              <a:rPr sz="1300" b="0">
                <a:solidFill>
                  <a:srgbClr val="CCCCCC"/>
                </a:solidFill>
              </a:rPr>
              <a:t>• Placed on torso of largest detected person</a:t>
            </a:r>
          </a:p>
          <a:p>
            <a:pPr algn="l"/>
            <a:r>
              <a:rPr sz="1300" b="0">
                <a:solidFill>
                  <a:srgbClr val="CCCCCC"/>
                </a:solidFill>
              </a:rPr>
              <a:t>• Rolling 30-frame suppression average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977639"/>
            <a:ext cx="5943600" cy="1508760"/>
          </a:xfrm>
          <a:prstGeom prst="rect">
            <a:avLst/>
          </a:prstGeom>
          <a:solidFill>
            <a:srgbClr val="1A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114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B8FF"/>
                </a:solidFill>
              </a:rPr>
              <a:t>PHYSICAL 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389120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E066"/>
                </a:solidFill>
              </a:rPr>
              <a:t>Patch exported at 300 DPI, 8"×8".</a:t>
            </a:r>
          </a:p>
          <a:p>
            <a:pPr algn="l"/>
            <a:r>
              <a:rPr sz="1200" b="0">
                <a:solidFill>
                  <a:srgbClr val="CCCCCC"/>
                </a:solidFill>
              </a:rPr>
              <a:t>Physical suppression ~30–60% (printer colour shift, lighting).</a:t>
            </a:r>
          </a:p>
          <a:p>
            <a:pPr algn="l"/>
            <a:r>
              <a:rPr sz="1200" b="0">
                <a:solidFill>
                  <a:srgbClr val="CCCCCC"/>
                </a:solidFill>
              </a:rPr>
              <a:t>NPS loss during training partially compensates.</a:t>
            </a:r>
          </a:p>
        </p:txBody>
      </p:sp>
      <p:pic>
        <p:nvPicPr>
          <p:cNvPr id="9" name="Picture 8" descr="p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200400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0" y="46634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</a:rPr>
              <a:t>YOLOv8n patch — 90% suppression
100×100 px · shown 2×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B8FF"/>
                </a:solidFill>
              </a:rP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E8E8F0"/>
                </a:solidFill>
              </a:rPr>
              <a:t>What We</a:t>
            </a:r>
          </a:p>
          <a:p>
            <a:pPr algn="l">
              <a:spcBef>
                <a:spcPts val="200"/>
              </a:spcBef>
            </a:pPr>
            <a:r>
              <a:rPr sz="3800" b="1">
                <a:solidFill>
                  <a:srgbClr val="3EFFA0"/>
                </a:solidFill>
              </a:rPr>
              <a:t>Learned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286000"/>
            <a:ext cx="3291840" cy="2194560"/>
          </a:xfrm>
          <a:prstGeom prst="rect">
            <a:avLst/>
          </a:prstGeom>
          <a:solidFill>
            <a:srgbClr val="0D1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4688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B8FF"/>
                </a:solidFill>
              </a:rPr>
              <a:t>PATCHES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83464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A 2.4% image patch suppresses YOLOv8n person detection by 90%. The effect transfers across model families at 10–50%.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2286000"/>
            <a:ext cx="3291840" cy="2194560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4688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B8FF"/>
                </a:solidFill>
              </a:rPr>
              <a:t>ARCHITECTURE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83464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YOLO26n's end-to-end Hungarian matching head creates a structural barrier. Loss convergence does not equal detection suppression.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2286000"/>
            <a:ext cx="3291840" cy="2194560"/>
          </a:xfrm>
          <a:prstGeom prst="rect">
            <a:avLst/>
          </a:prstGeom>
          <a:solidFill>
            <a:srgbClr val="1A1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4688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B8FF"/>
                </a:solidFill>
              </a:rPr>
              <a:t>NEXT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83464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Route gradients through the one2one head (Wang et al. 2026). Adversarial training as a defense. Physical robustness evaluation.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B8FF"/>
                </a:solidFill>
              </a:rPr>
              <a:t>Training script · Colab notebook · Live demo · All results  →  github.com/Cmaddock99/Patch_Yolo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